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Agile Practices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Project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Seven sprints, one board, two people — how the Lean/Scrum/Kanban/XP hybrid actually ran.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2438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four-way hybrid · roles and ceremonies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BACKLOG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3835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Epics and points · story anatomy · estimation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5232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Cadence · velocity · burndown · honesty · Jira · the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PLANNING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6629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WBS · COCOMO II · risk register · retrospectives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Not one framework — four, each hired for a different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SCRUM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cadence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Two-week sprints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planning poker &amp;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retros per sprint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43053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all seven closed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20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76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XP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6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engineering discipline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76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TDD on domain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76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refactoring under coverage floors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6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small releasable increments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00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KANBAN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00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desk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Returns, holds and maintenance visualised as queue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00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WIP kept at desk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20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76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LEAN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76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kills hand-off waste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76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Story-gated 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no speculative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7600" y="6578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every point moves the ledger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7594600"/>
            <a:ext cx="144272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7594600"/>
            <a:ext cx="13843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  <a:ea typeface="Georgia"/>
              </a:rPr>
              <a:t>Scrum for cadence, XP for engineering discipline, Kanban for desk-flow support work, Lean to kill hand-off waste.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people wearing every hat — on a documented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8862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3984"/>
                <a:gridCol w="3462528"/>
                <a:gridCol w="2308352"/>
                <a:gridCol w="5482336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CEREMONY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WHEN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WHO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COMES OUT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planning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Day 1 of every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 + SM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Committed points, poker-sized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 stand-up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Daily, 15 minutes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Blockers moved to the Kanban desk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review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Team + library desk staff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Working flow shown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Retrospective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 rule change for the Definition of Done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Backlog refinement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Continuous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Stories sliced to fit one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6502400"/>
            <a:ext cx="5334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6502400"/>
            <a:ext cx="5181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PO: S. Nidhish Guhan S — Product Owner /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26200" y="6502400"/>
            <a:ext cx="5461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400" y="6502400"/>
            <a:ext cx="5308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SM: Kawaskar J — Scrum Master / 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366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two-person Scrum keeps ceremony overhead lean: the review output is a working desk flow, not a status deck.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Ten epics, 126 points — the planning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Foundation, Auth &amp; Access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6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&amp; Search (incl. US-37*)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14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Copies &amp; Barcodes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Circulation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19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E7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Penalties &amp; Policies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E8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Recommendations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Reports, Admin &amp; Release Quality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1981200"/>
            <a:ext cx="14427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Fibonacci planning-level sizing · 37 stories live under these ten epics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6548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6654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125 of 126 points were delivered — US-37 (1 pt) was deferred at review rather than dilute the release.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4676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Epic sums reconcile to scope: 58 + 68 = 126 pts · Nidhish 61 + Kawaskar 64 = 125 delivered.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story is done only when its acceptance reads like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STORY TEMPLATE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16200"/>
            <a:ext cx="6858000" cy="1219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616200"/>
            <a:ext cx="6350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As a [role],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I want [capability],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so that [value].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67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ONE REAL HOLD 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46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48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As a librarian,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78400"/>
            <a:ext cx="6858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I want a returned reserved copy to reach the queued member, so that holds keep their promised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ACCEPTANCE CRITERIA · GIVEN / WHEN / THEN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26670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GIVEN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0" y="26543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copy is returned and its reservation queue is non-empty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2000" y="34544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37592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WHEN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0" y="37465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librarian completes the return at the desk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2000" y="45466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48514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0" y="48387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next member — FACULTY, then FIFO, then ID — moves to READY; the 48 h window opens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2000" y="56388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0" y="59436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0" y="59309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cancelled READY hold re-dispatches: the RES-001 regression pin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67310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6604000"/>
            <a:ext cx="711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Acceptance criteria are written in test language — they become jest specs and Selenium assertions almost verbatim.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Planning poker on a Fibonacci ladder — disagreement is the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36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36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28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12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4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0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83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FIBONACCI STORY-POINT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18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THIS WORKS FOR KCT LIBRARY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97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749800"/>
            <a:ext cx="25380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Silent first estimates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6432" y="4749800"/>
            <a:ext cx="5259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no anchoring to the louder 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95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5283200"/>
            <a:ext cx="1465199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Coarse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599" y="5283200"/>
            <a:ext cx="6332601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matches real uncertainty, not 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2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5816600"/>
            <a:ext cx="22161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Debate only on gaps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582" y="5816600"/>
            <a:ext cx="55816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cards within one step converge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36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9200" y="6350000"/>
            <a:ext cx="23234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Capacity cross-check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1865" y="6350000"/>
            <a:ext cx="54743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126 pts over mean 18 is seven sprints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24892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0" y="33782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SCOPE (PTS)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2000" y="43180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A8792C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52070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POINTS /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2000" y="54864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over seven closed sprints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Seven two-week sprints — 1 Jun to 4 Sep 2026, all 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70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17 pts</a:t>
            </a:r>
          </a:p>
        </p:txBody>
      </p:sp>
      <p:sp>
        <p:nvSpPr>
          <p:cNvPr id="9" name="Chevron 8"/>
          <p:cNvSpPr/>
          <p:nvPr/>
        </p:nvSpPr>
        <p:spPr>
          <a:xfrm>
            <a:off x="2921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6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12" name="Chevron 11"/>
          <p:cNvSpPr/>
          <p:nvPr/>
        </p:nvSpPr>
        <p:spPr>
          <a:xfrm>
            <a:off x="49276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32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32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18 pts</a:t>
            </a:r>
          </a:p>
        </p:txBody>
      </p:sp>
      <p:sp>
        <p:nvSpPr>
          <p:cNvPr id="15" name="Chevron 14"/>
          <p:cNvSpPr/>
          <p:nvPr/>
        </p:nvSpPr>
        <p:spPr>
          <a:xfrm>
            <a:off x="69342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98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98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22 pts</a:t>
            </a:r>
          </a:p>
        </p:txBody>
      </p:sp>
      <p:sp>
        <p:nvSpPr>
          <p:cNvPr id="18" name="Chevron 17"/>
          <p:cNvSpPr/>
          <p:nvPr/>
        </p:nvSpPr>
        <p:spPr>
          <a:xfrm>
            <a:off x="8940800" y="2743200"/>
            <a:ext cx="1879600" cy="9652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64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64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13 pts</a:t>
            </a:r>
          </a:p>
        </p:txBody>
      </p:sp>
      <p:sp>
        <p:nvSpPr>
          <p:cNvPr id="21" name="Chevron 20"/>
          <p:cNvSpPr/>
          <p:nvPr/>
        </p:nvSpPr>
        <p:spPr>
          <a:xfrm>
            <a:off x="10947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03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03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24" name="Chevron 23"/>
          <p:cNvSpPr/>
          <p:nvPr/>
        </p:nvSpPr>
        <p:spPr>
          <a:xfrm>
            <a:off x="12954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09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09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24 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260600"/>
            <a:ext cx="508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1 JUN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6400" y="2260600"/>
            <a:ext cx="4775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0">
                <a:solidFill>
                  <a:srgbClr val="A8792C"/>
                </a:solidFill>
                <a:latin typeface="Menlo"/>
                <a:ea typeface="Menlo"/>
              </a:rPr>
              <a:t>4 SEP 2026 · RELEASE v1.0.0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013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36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S3 slip · RES-001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34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S6 slip · UI-002 found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838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4826000"/>
            <a:ext cx="468369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Both slips surfaced in their sprint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096" y="4826000"/>
            <a:ext cx="895610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and were recovered the sprint 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7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3848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S4 closed 22 points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4582" y="53848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absorbing S3's three carried points inside a healthy sprint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95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436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S7 closed 24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4582" y="59436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strongest sprint, delivered right at the release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086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086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Every sprint closed at release — no open sprint was parked when v1.0.0 shipped.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Velocity held at 18 — and both dips explain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8940800" cy="4978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800" y="2362200"/>
            <a:ext cx="4826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4800" y="3200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COMPLETED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4800" y="3708400"/>
            <a:ext cx="482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A8792C"/>
                </a:solidFill>
                <a:latin typeface="Georgia"/>
                <a:ea typeface="Georgia"/>
              </a:rPr>
              <a:t>13–24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44450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SPRINT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4800" y="4724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low S5 · peak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4800" y="5143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9600" y="5130800"/>
            <a:ext cx="204660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Planned vs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5405" y="5130800"/>
            <a:ext cx="257619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tracked every 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4800" y="567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9600" y="5664200"/>
            <a:ext cx="1672844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Dips were honest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1644" y="5664200"/>
            <a:ext cx="2949956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found defects, not lost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4800" y="6210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9600" y="6197600"/>
            <a:ext cx="19531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Recovery systematic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71965" y="6197600"/>
            <a:ext cx="26696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next sprint absorbed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74422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Completed: 17, 16, 18, 22, 13, 16, 24 = 126 pts · Planned: 17, 16, 21, 22, 13, 18, 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Sprint 3's burndown tells the only story that matters: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urndown-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35200"/>
            <a:ext cx="7874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4800" y="238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READING THE BUMP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4800" y="266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48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00" y="2819400"/>
            <a:ext cx="20016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Planned 21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50415" y="2819400"/>
            <a:ext cx="38149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ideal line runs straight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48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9600" y="3378200"/>
            <a:ext cx="167976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Day 5: RES-001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8566" y="3378200"/>
            <a:ext cx="413683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cancelled READY holds can strand a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4800" y="394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9600" y="3937000"/>
            <a:ext cx="114334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+3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2149" y="3937000"/>
            <a:ext cx="467325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enter as the regression-safe fix is scoped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4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9600" y="4495800"/>
            <a:ext cx="146519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Closed at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3999" y="4495800"/>
            <a:ext cx="435140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three points carried, openly, to 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959600"/>
            <a:ext cx="7874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Chart: ideal vs actual points remaining, sprint days 0–10.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4676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74676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 bump you can see is a plan you can trust — hiding it would only move the surprise to the release.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Carry-over and deferral were decisions, not accidents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36800"/>
            <a:ext cx="4521200" cy="635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38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US-15 · US-30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38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Carried across sprint boundaries, re-estimated in poker, closed in the next review window.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912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1200" y="23368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06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US-37 · 1 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06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Deferred at review — the only story that did not reach v1.0.0; recorded on the board, not in a footnote.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680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68000" y="2336800"/>
            <a:ext cx="4521200" cy="635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474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The standing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sprint may close with fewer points, never with looser acceptance criteria.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40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WHAT THE TEAM LEARNED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019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8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6172200"/>
            <a:ext cx="296716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Buffers belong in 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5564" y="6172200"/>
            <a:ext cx="1067263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discovery always costs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6731000"/>
            <a:ext cx="285988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Deferral is scope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8281" y="6731000"/>
            <a:ext cx="1077991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it protected the release 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30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7289800"/>
            <a:ext cx="26453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Visibility over heroics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715" y="7289800"/>
            <a:ext cx="109944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carried stories re-enter poker like new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Jira KCT Library is the paper trail — a live, company-managed Scrum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ISSUES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32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0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0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66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6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1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368800"/>
            <a:ext cx="307444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Company-managed Scrum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2848" y="4368800"/>
            <a:ext cx="1056535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sprints started and completed on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9022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All seven sprints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0015" y="4902200"/>
            <a:ext cx="116381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show a sprint-closed event on the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5435600"/>
            <a:ext cx="307444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Issue keys run NS-1 to NS-9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2848" y="5435600"/>
            <a:ext cx="1056535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stories, tasks and defects share one ledger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6451600"/>
            <a:ext cx="4318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600" y="6451600"/>
            <a:ext cx="4165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Menlo"/>
                <a:ea typeface="Menlo"/>
              </a:rPr>
              <a:t>project: KCT Library · Scrum (company-managed)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5600" y="6451600"/>
            <a:ext cx="9906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Board numbers are quoted as text evidence — the live board is available for the seminar walkthrough.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builders, balanced load, one shared finish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36800"/>
          <a:ext cx="14427200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1072"/>
                <a:gridCol w="2596896"/>
                <a:gridCol w="6059424"/>
                <a:gridCol w="2019808"/>
              </a:tblGrid>
              <a:tr h="3454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HAT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AREA OF GRAVITY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S. Nidhish Guhan 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Backend · domain · DevOps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Kawaskar J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Scrum Master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Frontend · E2E · docs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TOTAL DELIVERED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—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of 126 points scoped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125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7244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POINT SPLIT — THE 125-POINT DELIVERED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83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DEFINITION OF DONE (PER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562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2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715000"/>
            <a:ext cx="27872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Acceptance criteria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5606" y="5715000"/>
            <a:ext cx="39945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API level, not just visually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223000"/>
            <a:ext cx="128177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Tests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179" y="6223000"/>
            <a:ext cx="550002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module coverage floor respected (80% target)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6731000"/>
            <a:ext cx="238575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Receipt + barcode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4158" y="6731000"/>
            <a:ext cx="439604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smoke-checked on a real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7239000"/>
            <a:ext cx="18839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Seed docs updated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2350" y="7239000"/>
            <a:ext cx="48978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so the next sprint starts from truth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775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7747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Shown on localhost:4000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4520" y="7747000"/>
            <a:ext cx="4295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the sprint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82000" y="5715000"/>
            <a:ext cx="6959600" cy="2006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2000" y="5715000"/>
            <a:ext cx="695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5943600"/>
            <a:ext cx="635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WHY THE SPLIT LOOKS LIKE THIS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299200"/>
            <a:ext cx="63500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Backend and DevOps carry heavier discovery (state machine, store); frontend carries surface area (SPA, receipts, docs). Neither hat outranks: cross-review is baked into DoD.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WBS to three levels — and a COCOMO II sanity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  <a:ea typeface="Georgia"/>
              </a:rPr>
              <a:t>1 · KCT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92350" y="2794000"/>
            <a:ext cx="12700" cy="6223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4099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1496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1496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1.1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800" y="32004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auth+RBAC · binary 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2350" y="2794000"/>
            <a:ext cx="12700" cy="13589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465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38862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1.2 Circulation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800" y="39370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loans · holds · fines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2350" y="2794000"/>
            <a:ext cx="12700" cy="20955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8831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228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800" y="46228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1.3 Experience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800" y="46736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SPA · receipts · a11y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2350" y="2794000"/>
            <a:ext cx="12700" cy="28321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56197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594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6800" y="53594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1.4 Quality &amp;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8800" y="54102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tests · CI ·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3500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LEVEL 3 · WORK 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705600"/>
            <a:ext cx="6858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e.g. 1.2.3 — the FACULTY-first hold queue: sized in planning poker, exercised in S3.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23200" y="2235200"/>
            <a:ext cx="25400" cy="4978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COCOMO II · BASIC, ORGANIC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2000" y="2667000"/>
            <a:ext cx="6959600" cy="152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2667000"/>
            <a:ext cx="63500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a × (KLOC)^b,  a=2.4 · b=1.05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2.4 × (1.585 KLOC)^1.05 ≈ 3.9 person-months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0" y="4533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521200"/>
            <a:ext cx="12506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1.585 KLOC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632" y="4521200"/>
            <a:ext cx="5378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= 1,585 measured LOC of the shipped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0" y="5067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50546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Schedule estimate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37615" y="5054600"/>
            <a:ext cx="46277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≈ 3.9 months for the modelled effort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560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588000"/>
            <a:ext cx="15724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Actual window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8482" y="5588000"/>
            <a:ext cx="50569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1 Jun – 4 Sep 2026 · two people, 7 sprints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0" y="6350000"/>
            <a:ext cx="69596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A Jun–Sep Gantt was maintained over the same window, branch by WBS branch.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Estimate vs reality: the model said 3.9 person-months over 3.9 months; two builders landed it in one summer.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Six risks tracked — the top three changed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62528"/>
                <a:gridCol w="3462528"/>
                <a:gridCol w="7502144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RISK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IMPACT IF REAL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MITIGATION — LANDED IN CODE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Data corruption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lost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writes, store-tested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Requirement churn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Scope drift, blown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Story-gated scope; re-entry via poker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Flaky E2E signal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False red, lost trust in CI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Explicit selector rule (E2E-003)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689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Full register: six risks, owned on the Jira board; these three earned permanent engineering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9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RETROSPECTIVES THAT ACTUALLY LANDED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47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616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604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S2 retro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9094" y="6604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selector policy added to DoD after first 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12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112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S3 retro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9094" y="7112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coverage floor enforced after RES-001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763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7620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S6 retro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9094" y="7620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authenticated-asset fetch rule after UI-002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hybrid worked: Scrum cadence, XP discipline, Kanban desk flow, Lean restraint.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Seven sprints, mean 18 points — both dips surfaced at review and healed the sprint after.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Board, WBS and COCOMO agree with each other: 126 pts scoped, 125 delivered, one deferred.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Every retrospective ended as a DoD rule, not a wish.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Process lesson: cadence turns honesty into a habit, not an event.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III — how this backlog was tested, measured and shipped.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