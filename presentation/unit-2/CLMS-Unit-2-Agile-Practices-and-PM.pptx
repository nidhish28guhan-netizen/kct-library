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200" cy="91440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69600" y="3175000"/>
            <a:ext cx="5080000" cy="482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8000" b="1" i="0">
                <a:solidFill>
                  <a:srgbClr val="E3DCC8"/>
                </a:solidFill>
                <a:latin typeface="Georgia"/>
                <a:ea typeface="Georgia"/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62000"/>
            <a:ext cx="1270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COLLEGE LIBRARY MANAGEMENT SYSTEM · UNIVERSITY PROJECT SEMINAR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68400"/>
            <a:ext cx="8890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6756A"/>
                </a:solidFill>
                <a:latin typeface="Helvetica"/>
                <a:ea typeface="Helvetica"/>
              </a:rPr>
              <a:t>KCT LIBRARY — SYSTEM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3600"/>
            <a:ext cx="889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1">
                <a:solidFill>
                  <a:srgbClr val="A8792C"/>
                </a:solidFill>
                <a:latin typeface="Georgia"/>
                <a:ea typeface="Georgia"/>
              </a:rPr>
              <a:t>Unit II of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54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Agile Practices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78200"/>
            <a:ext cx="10922000" cy="81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E3A2F"/>
                </a:solidFill>
                <a:latin typeface="Georgia"/>
                <a:ea typeface="Georgia"/>
              </a:rPr>
              <a:t>Project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470400"/>
            <a:ext cx="1219200" cy="508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26000"/>
            <a:ext cx="1041400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66756A"/>
                </a:solidFill>
                <a:latin typeface="Helvetica"/>
                <a:ea typeface="Helvetica"/>
              </a:rPr>
              <a:t>Seven sprints, one board, two people — how the Lean/Scrum/Kanban/XP hybrid actually ran.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969000"/>
            <a:ext cx="25400" cy="16764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200" y="59944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64008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Library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5200" y="64008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Product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6832600"/>
            <a:ext cx="3048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Library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200" y="6832600"/>
            <a:ext cx="5334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6756A"/>
                </a:solidFill>
                <a:latin typeface="Helvetica"/>
                <a:ea typeface="Helvetica"/>
              </a:rPr>
              <a:t>— System Administration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8178800"/>
            <a:ext cx="889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56A"/>
                </a:solidFill>
                <a:latin typeface="Menlo"/>
                <a:ea typeface="Menlo"/>
              </a:rPr>
              <a:t>KCT Library · System documentation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2000" y="8178800"/>
            <a:ext cx="44196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6756A"/>
                </a:solidFill>
                <a:latin typeface="Menlo"/>
                <a:ea typeface="Menlo"/>
              </a:rPr>
              <a:t>deck 2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AGENDA · UNIT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What this unit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09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13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2800" y="2374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2438400"/>
            <a:ext cx="7213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The four-way hybrid · roles and ceremonies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06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10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2800" y="3771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3835400"/>
            <a:ext cx="7213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Epics and points · story anatomy · estimation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03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07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2800" y="5168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0" y="5232400"/>
            <a:ext cx="7213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Cadence · velocity · burndown · honesty · Jira · the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4008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604000"/>
            <a:ext cx="889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2800" y="6565900"/>
            <a:ext cx="76200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1E3A2F"/>
                </a:solidFill>
                <a:latin typeface="Georgia"/>
                <a:ea typeface="Georgia"/>
              </a:rPr>
              <a:t>PLANNING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0" y="6629400"/>
            <a:ext cx="72136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50" b="0" i="0">
                <a:solidFill>
                  <a:srgbClr val="66756A"/>
                </a:solidFill>
                <a:latin typeface="Helvetica"/>
                <a:ea typeface="Helvetica"/>
              </a:rPr>
              <a:t>WBS · COCOMO II · risk register · retrospectives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1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Not one framework — four, each hired for a different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11400"/>
            <a:ext cx="6959600" cy="2362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11400"/>
            <a:ext cx="76200" cy="2362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70000" y="2514600"/>
            <a:ext cx="635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3A2F"/>
                </a:solidFill>
                <a:latin typeface="Georgia"/>
                <a:ea typeface="Georgia"/>
              </a:rPr>
              <a:t>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895600"/>
            <a:ext cx="635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A8792C"/>
                </a:solidFill>
                <a:latin typeface="Helvetica"/>
                <a:ea typeface="Helvetica"/>
              </a:rPr>
              <a:t>gives the cadence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32766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Two-week sprints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36195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planning poker &amp;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39624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retros per sprint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43053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all seven closed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82000" y="2311400"/>
            <a:ext cx="6959600" cy="2362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82000" y="2311400"/>
            <a:ext cx="76200" cy="2362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7600" y="2514600"/>
            <a:ext cx="635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3A2F"/>
                </a:solidFill>
                <a:latin typeface="Georgia"/>
                <a:ea typeface="Georgia"/>
              </a:rPr>
              <a:t>XP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7600" y="2895600"/>
            <a:ext cx="635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A8792C"/>
                </a:solidFill>
                <a:latin typeface="Helvetica"/>
                <a:ea typeface="Helvetica"/>
              </a:rPr>
              <a:t>gives engineering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7600" y="32766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TDD on domain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7600" y="36195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refactoring under coverage floors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00" y="39624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small releasable increments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927600"/>
            <a:ext cx="6959600" cy="2362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927600"/>
            <a:ext cx="76200" cy="2362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0000" y="5130800"/>
            <a:ext cx="635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3A2F"/>
                </a:solidFill>
                <a:latin typeface="Georgia"/>
                <a:ea typeface="Georgia"/>
              </a:rPr>
              <a:t>KANBAN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0000" y="5511800"/>
            <a:ext cx="635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A8792C"/>
                </a:solidFill>
                <a:latin typeface="Helvetica"/>
                <a:ea typeface="Helvetica"/>
              </a:rPr>
              <a:t>gives the desk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58928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Returns, holds and maintenance visualised as queue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0000" y="62357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WIP kept at desk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0" y="4927600"/>
            <a:ext cx="6959600" cy="2362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2000" y="4927600"/>
            <a:ext cx="76200" cy="23622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7600" y="5130800"/>
            <a:ext cx="63500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E3A2F"/>
                </a:solidFill>
                <a:latin typeface="Georgia"/>
                <a:ea typeface="Georgia"/>
              </a:rPr>
              <a:t>LEAN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600" y="5511800"/>
            <a:ext cx="635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A8792C"/>
                </a:solidFill>
                <a:latin typeface="Helvetica"/>
                <a:ea typeface="Helvetica"/>
              </a:rPr>
              <a:t>kills hand-off waste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600" y="58928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Story-gated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7600" y="62357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no speculative build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7600" y="6578600"/>
            <a:ext cx="6451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3A2F"/>
                </a:solidFill>
                <a:latin typeface="Helvetica"/>
                <a:ea typeface="Helvetica"/>
              </a:rPr>
              <a:t>• every point moves the ledger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7594600"/>
            <a:ext cx="14427200" cy="584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9200" y="7594600"/>
            <a:ext cx="13843000" cy="584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  <a:ea typeface="Georgia"/>
              </a:rPr>
              <a:t>Scrum for cadence, XP for engineering discipline, Kanban for desk-flow support work, Lean to kill hand-off waste.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1 ·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Two people wearing every hat — on a documented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14427200" cy="3886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73984"/>
                <a:gridCol w="3462528"/>
                <a:gridCol w="2308352"/>
                <a:gridCol w="5482336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CEREMONY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WHEN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WHO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WHAT COMES OUT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5288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Sprint planning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Day 1 of every sprint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PO + SM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Committed points, poker-sized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5288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Daily stand-up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Daily, 15 minutes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Whole team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Blockers moved to the Kanban desk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5288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Sprint review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Sprint end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Team + library desk staff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Working flow shown on localhost:4000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5288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Retrospective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Sprint end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Whole team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 rule change for the Definition of Done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5288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Backlog refinement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Continuous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Product Owner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Stories sliced to fit one sprint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6502400"/>
            <a:ext cx="5334000" cy="5334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6502400"/>
            <a:ext cx="51816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elvetica"/>
                <a:ea typeface="Helvetica"/>
              </a:rPr>
              <a:t>PO: Library Administration — Product Owner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6200" y="6502400"/>
            <a:ext cx="5461000" cy="5334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2400" y="6502400"/>
            <a:ext cx="53086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elvetica"/>
                <a:ea typeface="Helvetica"/>
              </a:rPr>
              <a:t>SM: Library IT — System 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366000"/>
            <a:ext cx="144272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756A"/>
                </a:solidFill>
                <a:latin typeface="Helvetica"/>
                <a:ea typeface="Helvetica"/>
              </a:rPr>
              <a:t>A two-person Scrum keeps ceremony overhead lean: the review output is a working desk flow, not a status deck.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2 ·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Ten epics, 126 points — the planning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413000"/>
          <a:ext cx="6959600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2728"/>
                <a:gridCol w="4314952"/>
                <a:gridCol w="139192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EPIC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SCOPE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PTS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E1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Foundation, Auth &amp; Access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11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E2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Members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6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E3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Catalogue &amp; Search (incl. US-37*)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14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E4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Copies &amp; Barcodes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11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E5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Circulation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16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0" y="2413000"/>
          <a:ext cx="6959600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2728"/>
                <a:gridCol w="4314952"/>
                <a:gridCol w="139192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EPIC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SCOPE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PTS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E6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Reservations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19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E7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Penalties &amp; Policies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10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E8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Recommendations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13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E9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13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E10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Reports, Admin &amp; Release Quality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50" b="1">
                          <a:solidFill>
                            <a:srgbClr val="A8792C"/>
                          </a:solidFill>
                          <a:latin typeface="Menlo"/>
                          <a:ea typeface="Menlo"/>
                        </a:rPr>
                        <a:t>13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1981200"/>
            <a:ext cx="14427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Fibonacci planning-level sizing · 37 stories live under these ten epics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6548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66548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125 of 126 points were delivered — US-37 (1 pt) was deferred at review rather than dilute the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467600"/>
            <a:ext cx="1442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Menlo"/>
                <a:ea typeface="Menlo"/>
              </a:rPr>
              <a:t>Epic sums reconcile to scope: 58 + 68 = 126 pts planned · 125 pts delivered.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2 ·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A story is done only when its acceptance reads like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35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STORY TEMPLATE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514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616200"/>
            <a:ext cx="6858000" cy="1219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3800" y="2616200"/>
            <a:ext cx="63500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Helvetica"/>
                <a:ea typeface="Helvetica"/>
              </a:rPr>
              <a:t>As a [role],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Helvetica"/>
                <a:ea typeface="Helvetica"/>
              </a:rPr>
              <a:t>I want [capability],</a:t>
            </a:r>
          </a:p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FFFFFF"/>
                </a:solidFill>
                <a:latin typeface="Helvetica"/>
                <a:ea typeface="Helvetica"/>
              </a:rPr>
              <a:t>so that [value].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67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ONE REAL HOLD 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46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48200"/>
            <a:ext cx="68580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E3A2F"/>
                </a:solidFill>
                <a:latin typeface="Helvetica"/>
                <a:ea typeface="Helvetica"/>
              </a:rPr>
              <a:t>As a librarian,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78400"/>
            <a:ext cx="6858000" cy="121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1E3A2F"/>
                </a:solidFill>
                <a:latin typeface="Helvetica"/>
                <a:ea typeface="Helvetica"/>
              </a:rPr>
              <a:t>I want a returned reserved copy to reach the queued member, so that holds keep their promised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2235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ACCEPTANCE CRITERIA · GIVEN / WHEN / THEN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0" y="2514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0" y="2667000"/>
            <a:ext cx="1168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Menlo"/>
                <a:ea typeface="Menlo"/>
              </a:rPr>
              <a:t>GIVEN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0" y="2654300"/>
            <a:ext cx="57404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a copy is returned and its reservation queue is non-empty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0" y="3454400"/>
            <a:ext cx="69596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2000" y="3759200"/>
            <a:ext cx="1168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Menlo"/>
                <a:ea typeface="Menlo"/>
              </a:rPr>
              <a:t>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0" y="3746500"/>
            <a:ext cx="57404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the librarian completes the return at the desk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0" y="4546600"/>
            <a:ext cx="69596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2000" y="4851400"/>
            <a:ext cx="1168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Menlo"/>
                <a:ea typeface="Menlo"/>
              </a:rPr>
              <a:t>THEN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0" y="4838700"/>
            <a:ext cx="57404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the next member — FACULTY, then FIFO, then ID — moves to READY; the 48 h window opens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0" y="5638800"/>
            <a:ext cx="69596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5943600"/>
            <a:ext cx="11684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Menlo"/>
                <a:ea typeface="Menlo"/>
              </a:rPr>
              <a:t>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0" y="5930900"/>
            <a:ext cx="57404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a cancelled READY hold re-dispatches: the RES-001 regression pin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82000" y="6731000"/>
            <a:ext cx="69596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604000"/>
            <a:ext cx="711200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Acceptance criteria are written in test language — they become jest specs and Selenium assertions almost verbatim.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2 ·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Planning poker on a Fibonacci ladder — disagreement is the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62200"/>
            <a:ext cx="1016000" cy="1168400"/>
          </a:xfrm>
          <a:prstGeom prst="roundRect">
            <a:avLst/>
          </a:prstGeom>
          <a:solidFill>
            <a:srgbClr val="EDE7D8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600" y="2362200"/>
            <a:ext cx="1016000" cy="1168400"/>
          </a:xfrm>
          <a:prstGeom prst="roundRect">
            <a:avLst/>
          </a:prstGeom>
          <a:solidFill>
            <a:srgbClr val="EFEAD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36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800" y="2362200"/>
            <a:ext cx="1016000" cy="1168400"/>
          </a:xfrm>
          <a:prstGeom prst="roundRect">
            <a:avLst/>
          </a:prstGeom>
          <a:solidFill>
            <a:srgbClr val="EDE7D8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8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362200"/>
            <a:ext cx="1016000" cy="1168400"/>
          </a:xfrm>
          <a:prstGeom prst="roundRect">
            <a:avLst/>
          </a:prstGeom>
          <a:solidFill>
            <a:srgbClr val="EFEAD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1200" y="2362200"/>
            <a:ext cx="1016000" cy="1168400"/>
          </a:xfrm>
          <a:prstGeom prst="roundRect">
            <a:avLst/>
          </a:prstGeom>
          <a:solidFill>
            <a:srgbClr val="EDE7D8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912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0400" y="2362200"/>
            <a:ext cx="1016000" cy="1168400"/>
          </a:xfrm>
          <a:prstGeom prst="roundRect">
            <a:avLst/>
          </a:prstGeom>
          <a:solidFill>
            <a:srgbClr val="EFEAD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0400" y="2362200"/>
            <a:ext cx="1016000" cy="1168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83000"/>
            <a:ext cx="711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FIBONACCI STORY-POINT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180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WHY THIS WORKS FOR KCT LIBRARY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974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2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4749800"/>
            <a:ext cx="253803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Silent first estimates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6432" y="4749800"/>
            <a:ext cx="525976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no anchoring to the louder 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95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200" y="5283200"/>
            <a:ext cx="1465199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Coarse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33599" y="5283200"/>
            <a:ext cx="6332601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matches real uncertainty, not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29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5816600"/>
            <a:ext cx="221618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Debate only on 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4582" y="5816600"/>
            <a:ext cx="558161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cards within one step converge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362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200" y="6350000"/>
            <a:ext cx="232346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Capacity cross-check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1865" y="6350000"/>
            <a:ext cx="547433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126 pts over mean 18 is seven sprints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2000" y="2489200"/>
            <a:ext cx="4318000" cy="838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1E3A2F"/>
                </a:solidFill>
                <a:latin typeface="Georgia"/>
                <a:ea typeface="Georgia"/>
              </a:rPr>
              <a:t>126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2000" y="3378200"/>
            <a:ext cx="431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TOTAL SCOPE (PTS)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22000" y="4318000"/>
            <a:ext cx="4318000" cy="838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A8792C"/>
                </a:solidFill>
                <a:latin typeface="Georgia"/>
                <a:ea typeface="Georgia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2000" y="5207000"/>
            <a:ext cx="431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MEAN POINTS / SPRINT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22000" y="5486400"/>
            <a:ext cx="4318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over seven closed sprints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Seven two-week sprints — 1 Jun to 4 Sep 2026, all closed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9144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00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17 pts</a:t>
            </a:r>
          </a:p>
        </p:txBody>
      </p:sp>
      <p:sp>
        <p:nvSpPr>
          <p:cNvPr id="9" name="Chevron 8"/>
          <p:cNvSpPr/>
          <p:nvPr/>
        </p:nvSpPr>
        <p:spPr>
          <a:xfrm>
            <a:off x="29210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66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16 pts</a:t>
            </a:r>
          </a:p>
        </p:txBody>
      </p:sp>
      <p:sp>
        <p:nvSpPr>
          <p:cNvPr id="12" name="Chevron 11"/>
          <p:cNvSpPr/>
          <p:nvPr/>
        </p:nvSpPr>
        <p:spPr>
          <a:xfrm>
            <a:off x="49276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32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32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18 pts</a:t>
            </a:r>
          </a:p>
        </p:txBody>
      </p:sp>
      <p:sp>
        <p:nvSpPr>
          <p:cNvPr id="15" name="Chevron 14"/>
          <p:cNvSpPr/>
          <p:nvPr/>
        </p:nvSpPr>
        <p:spPr>
          <a:xfrm>
            <a:off x="69342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98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98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22 pts</a:t>
            </a:r>
          </a:p>
        </p:txBody>
      </p:sp>
      <p:sp>
        <p:nvSpPr>
          <p:cNvPr id="18" name="Chevron 17"/>
          <p:cNvSpPr/>
          <p:nvPr/>
        </p:nvSpPr>
        <p:spPr>
          <a:xfrm>
            <a:off x="8940800" y="2743200"/>
            <a:ext cx="1879600" cy="965200"/>
          </a:xfrm>
          <a:prstGeom prst="chevron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64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13 pts</a:t>
            </a:r>
          </a:p>
        </p:txBody>
      </p:sp>
      <p:sp>
        <p:nvSpPr>
          <p:cNvPr id="21" name="Chevron 20"/>
          <p:cNvSpPr/>
          <p:nvPr/>
        </p:nvSpPr>
        <p:spPr>
          <a:xfrm>
            <a:off x="109474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030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030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16 pts</a:t>
            </a:r>
          </a:p>
        </p:txBody>
      </p:sp>
      <p:sp>
        <p:nvSpPr>
          <p:cNvPr id="24" name="Chevron 23"/>
          <p:cNvSpPr/>
          <p:nvPr/>
        </p:nvSpPr>
        <p:spPr>
          <a:xfrm>
            <a:off x="12954000" y="2743200"/>
            <a:ext cx="1879600" cy="965200"/>
          </a:xfrm>
          <a:prstGeom prst="chevron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09600" y="2819400"/>
            <a:ext cx="14732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  <a:ea typeface="Georgia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09600" y="3175000"/>
            <a:ext cx="1473200" cy="40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FFFFF"/>
                </a:solidFill>
                <a:latin typeface="Menlo"/>
                <a:ea typeface="Menlo"/>
              </a:rPr>
              <a:t>24 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260600"/>
            <a:ext cx="508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Menlo"/>
                <a:ea typeface="Menlo"/>
              </a:rPr>
              <a:t>1 JUN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6400" y="2260600"/>
            <a:ext cx="4775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0">
                <a:solidFill>
                  <a:srgbClr val="A8792C"/>
                </a:solidFill>
                <a:latin typeface="Menlo"/>
                <a:ea typeface="Menlo"/>
              </a:rPr>
              <a:t>4 SEP 2026 · RELEASE v1.0.0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0132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3600" y="41910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6462F"/>
                </a:solidFill>
                <a:latin typeface="Menlo"/>
                <a:ea typeface="Menlo"/>
              </a:rPr>
              <a:t>S3 slip · RES-001 found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3400" y="4191000"/>
            <a:ext cx="381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96462F"/>
                </a:solidFill>
                <a:latin typeface="Menlo"/>
                <a:ea typeface="Menlo"/>
              </a:rPr>
              <a:t>S6 slip · UI-002 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38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200" y="4826000"/>
            <a:ext cx="4683696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Both slips surfaced in their sprint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096" y="4826000"/>
            <a:ext cx="8956104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and were recovered the sprint 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97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9200" y="5384800"/>
            <a:ext cx="2216182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S4 closed 22 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4582" y="5384800"/>
            <a:ext cx="11423618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absorbing S3's three carried points inside a healthy sprint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956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9200" y="5943600"/>
            <a:ext cx="2216182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S7 closed 24 points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4582" y="5943600"/>
            <a:ext cx="11423618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the strongest sprint, delivered right at the release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70866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9200" y="70866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  <a:ea typeface="Helvetica"/>
              </a:rPr>
              <a:t>Every sprint closed at release — no open sprint was parked when v1.0.0 shipped.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Velocity held at 18 — and both dips explain themselves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lo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84400"/>
            <a:ext cx="8940800" cy="4978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64800" y="2362200"/>
            <a:ext cx="4826000" cy="78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E3A2F"/>
                </a:solidFill>
                <a:latin typeface="Georgia"/>
                <a:ea typeface="Georgia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4800" y="3200400"/>
            <a:ext cx="482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MEAN COMPLETED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4800" y="3708400"/>
            <a:ext cx="482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A8792C"/>
                </a:solidFill>
                <a:latin typeface="Georgia"/>
                <a:ea typeface="Georgia"/>
              </a:rPr>
              <a:t>13–24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4800" y="4445000"/>
            <a:ext cx="482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SPRINT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4800" y="4724400"/>
            <a:ext cx="482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756A"/>
                </a:solidFill>
                <a:latin typeface="Helvetica"/>
                <a:ea typeface="Helvetica"/>
              </a:rPr>
              <a:t>low S5 · peak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4800" y="5143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9600" y="5130800"/>
            <a:ext cx="204660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Planned vs 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5405" y="5130800"/>
            <a:ext cx="257619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tracked every sprint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4800" y="5676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9600" y="5664200"/>
            <a:ext cx="1672844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Dips were honest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91644" y="5664200"/>
            <a:ext cx="2949956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— found defects, not lost effort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4800" y="6210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9600" y="6197600"/>
            <a:ext cx="195316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Recovery systematic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71965" y="6197600"/>
            <a:ext cx="266963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— next sprint absorbed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7442200"/>
            <a:ext cx="144272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Completed: 17, 16, 18, 22, 13, 16, 24 = 126 pts · Planned: 17, 16, 21, 22, 13, 18, 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Sprint 3's burndown tells the only story that matters: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rndown-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35200"/>
            <a:ext cx="7874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94800" y="23876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READING THE BUMP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9194800" y="26670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94800" y="28321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9600" y="2819400"/>
            <a:ext cx="2001615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Planned 21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50415" y="2819400"/>
            <a:ext cx="3814985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ideal line runs straight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94800" y="3390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9600" y="3378200"/>
            <a:ext cx="1679766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Day 5: RES-001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8566" y="3378200"/>
            <a:ext cx="4136834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cancelled READY holds can strand a 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4800" y="3949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9600" y="3937000"/>
            <a:ext cx="1143349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+3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92149" y="3937000"/>
            <a:ext cx="4673251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enter as the regression-safe fix is scoped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4800" y="4508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9600" y="4495800"/>
            <a:ext cx="1465199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Closed at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3999" y="4495800"/>
            <a:ext cx="4351401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three points carried, openly, to S4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959600"/>
            <a:ext cx="7874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Chart: ideal vs actual points remaining, sprint days 0–10.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7467600"/>
            <a:ext cx="14427200" cy="5334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9200" y="7467600"/>
            <a:ext cx="13843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A bump you can see is a plan you can trust — hiding it would only move the surprise to the release.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Carry-over and deferral were decisions, not accidents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36800"/>
            <a:ext cx="4521200" cy="2997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336800"/>
            <a:ext cx="4521200" cy="6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3800" y="2590800"/>
            <a:ext cx="39624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E3A2F"/>
                </a:solidFill>
                <a:latin typeface="Menlo"/>
                <a:ea typeface="Menlo"/>
              </a:rPr>
              <a:t>US-15 · US-30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800" y="3048000"/>
            <a:ext cx="3962400" cy="208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Carried across sprint boundaries, re-estimated in poker, closed in the next review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1200" y="2336800"/>
            <a:ext cx="4521200" cy="2997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91200" y="2336800"/>
            <a:ext cx="45212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0600" y="2590800"/>
            <a:ext cx="39624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E3A2F"/>
                </a:solidFill>
                <a:latin typeface="Menlo"/>
                <a:ea typeface="Menlo"/>
              </a:rPr>
              <a:t>US-37 · 1 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0600" y="3048000"/>
            <a:ext cx="3962400" cy="208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Deferred at review — the only story that did not reach v1.0.0; recorded on the board, not in a footnote.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68000" y="2336800"/>
            <a:ext cx="4521200" cy="29972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68000" y="2336800"/>
            <a:ext cx="4521200" cy="63500"/>
          </a:xfrm>
          <a:prstGeom prst="rect">
            <a:avLst/>
          </a:prstGeom>
          <a:solidFill>
            <a:srgbClr val="96462F"/>
          </a:solidFill>
          <a:ln w="12700">
            <a:solidFill>
              <a:srgbClr val="964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47400" y="2590800"/>
            <a:ext cx="3962400" cy="33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E3A2F"/>
                </a:solidFill>
                <a:latin typeface="Menlo"/>
                <a:ea typeface="Menlo"/>
              </a:rPr>
              <a:t>The standing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7400" y="3048000"/>
            <a:ext cx="3962400" cy="2082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A sprint may close with fewer points, never with looser acceptance criteria.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404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WHAT THE TEAM LEARNED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0198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184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6172200"/>
            <a:ext cx="2967165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Buffers belong in the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5564" y="6172200"/>
            <a:ext cx="10672636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discovery always costs 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743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200" y="6731000"/>
            <a:ext cx="2859881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Deferral is scope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8281" y="6731000"/>
            <a:ext cx="10779919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it protected the release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7302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200" y="7289800"/>
            <a:ext cx="2645315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Visibility over heroics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715" y="7289800"/>
            <a:ext cx="10994485" cy="6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carried stories re-enter poker like new work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Jira KCT Library is the paper trail — a live, company-managed Scrum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87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2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TOTAL ISSUES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32400" y="24638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0400" y="2387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0400" y="3352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EPICS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0" y="2463800"/>
            <a:ext cx="25400" cy="12192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6400" y="2387600"/>
            <a:ext cx="355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 i="0">
                <a:solidFill>
                  <a:srgbClr val="1E3A2F"/>
                </a:solidFill>
                <a:latin typeface="Georgia"/>
                <a:ea typeface="Georgia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6400" y="3352800"/>
            <a:ext cx="355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STORIES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15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368800"/>
            <a:ext cx="307444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Company-managed Scrum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48" y="4368800"/>
            <a:ext cx="1056535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sprints started and completed on schedule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14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902200"/>
            <a:ext cx="200161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All seven sprints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0015" y="4902200"/>
            <a:ext cx="1163818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show a sprint-closed event on the 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8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200" y="5435600"/>
            <a:ext cx="307444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Issue keys run NS-1 to NS-9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2848" y="5435600"/>
            <a:ext cx="1056535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— stories, tasks and defects share one ledger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6451600"/>
            <a:ext cx="4318000" cy="5588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" y="6451600"/>
            <a:ext cx="41656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enlo"/>
                <a:ea typeface="Menlo"/>
              </a:rPr>
              <a:t>project: KCT Library · Scrum (company-managed)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35600" y="6451600"/>
            <a:ext cx="9906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56A"/>
                </a:solidFill>
                <a:latin typeface="Helvetica"/>
                <a:ea typeface="Helvetica"/>
              </a:rPr>
              <a:t>Board numbers are quoted as text evidence — the live board is available for the seminar walkthrough.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3 ·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Two builders, balanced load, one shared finish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36800"/>
          <a:ext cx="14427200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1072"/>
                <a:gridCol w="2596896"/>
                <a:gridCol w="6059424"/>
                <a:gridCol w="2019808"/>
              </a:tblGrid>
              <a:tr h="34544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MEMBER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HAT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AREA OF GRAVITY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PTS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604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Library Administration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Product Owner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Backend · domain · DevOps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61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604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Library IT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Scrum Master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Frontend · E2E · docs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0">
                          <a:solidFill>
                            <a:srgbClr val="1E3A2F"/>
                          </a:solidFill>
                          <a:latin typeface="Menlo"/>
                          <a:ea typeface="Menlo"/>
                        </a:rPr>
                        <a:t>64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6045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TOTAL DELIVERED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—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of 126 points scoped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enlo"/>
                          <a:ea typeface="Menlo"/>
                        </a:rPr>
                        <a:t>125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724400"/>
            <a:ext cx="14427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66756A"/>
                </a:solidFill>
                <a:latin typeface="Helvetica"/>
                <a:ea typeface="Helvetica"/>
              </a:rPr>
              <a:t>POINT SPLIT — THE 125-POINT DELIVERED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83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DEFINITION OF DONE (PER STORY)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562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27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5715000"/>
            <a:ext cx="278720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Acceptance criteria proven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5606" y="5715000"/>
            <a:ext cx="399459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at API level, not just visually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35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6223000"/>
            <a:ext cx="1281779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Tests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0179" y="6223000"/>
            <a:ext cx="5500021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— module coverage floor respected (80% 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743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6731000"/>
            <a:ext cx="2385758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Receipt + barcode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4158" y="6731000"/>
            <a:ext cx="4396042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smoke-checked on a real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7251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7239000"/>
            <a:ext cx="188395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Seed docs updated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2350" y="7239000"/>
            <a:ext cx="489785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so the next sprint starts from truth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759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200" y="7747000"/>
            <a:ext cx="248612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Shown on localhost:4000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4520" y="7747000"/>
            <a:ext cx="429568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at the sprint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82000" y="5715000"/>
            <a:ext cx="6959600" cy="2006600"/>
          </a:xfrm>
          <a:prstGeom prst="rect">
            <a:avLst/>
          </a:prstGeom>
          <a:solidFill>
            <a:srgbClr val="EDE7D8"/>
          </a:solidFill>
          <a:ln w="12700">
            <a:solidFill>
              <a:srgbClr val="ED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5715000"/>
            <a:ext cx="6959600" cy="635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5943600"/>
            <a:ext cx="63500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WHY THE SPLIT LOOKS LIKE 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6299200"/>
            <a:ext cx="6350000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1E3A2F"/>
                </a:solidFill>
                <a:latin typeface="Helvetica"/>
                <a:ea typeface="Helvetica"/>
              </a:rPr>
              <a:t>Backend and DevOps carry heavier discovery (state machine, store); frontend carries surface area (SPA, receipts, docs). Neither hat outranks: cross-review is baked into DoD.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4 · PLANNING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WBS to three levels — and a COCOMO II sanity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235200"/>
            <a:ext cx="27686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35200"/>
            <a:ext cx="27686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Georgia"/>
                <a:ea typeface="Georgia"/>
              </a:rPr>
              <a:t>1 · KCT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92350" y="2794000"/>
            <a:ext cx="12700" cy="6223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09950"/>
            <a:ext cx="13843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3149600"/>
            <a:ext cx="3200400" cy="533400"/>
          </a:xfrm>
          <a:prstGeom prst="rect">
            <a:avLst/>
          </a:prstGeom>
          <a:solidFill>
            <a:srgbClr val="EDE7D8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3149600"/>
            <a:ext cx="3048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1.1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800" y="3200400"/>
            <a:ext cx="317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auth+RBAC · binary 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92350" y="2794000"/>
            <a:ext cx="12700" cy="13589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146550"/>
            <a:ext cx="13843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886200"/>
            <a:ext cx="3200400" cy="533400"/>
          </a:xfrm>
          <a:prstGeom prst="rect">
            <a:avLst/>
          </a:prstGeom>
          <a:solidFill>
            <a:srgbClr val="EDE7D8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3886200"/>
            <a:ext cx="3048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1.2 Circulation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800" y="3937000"/>
            <a:ext cx="317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loans · holds · fines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2350" y="2794000"/>
            <a:ext cx="12700" cy="20955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883150"/>
            <a:ext cx="13843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622800"/>
            <a:ext cx="3200400" cy="533400"/>
          </a:xfrm>
          <a:prstGeom prst="rect">
            <a:avLst/>
          </a:prstGeom>
          <a:solidFill>
            <a:srgbClr val="EDE7D8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6800" y="4622800"/>
            <a:ext cx="3048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1.3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800" y="4673600"/>
            <a:ext cx="317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SPA · receipts · a11y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92350" y="2794000"/>
            <a:ext cx="12700" cy="28321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5619750"/>
            <a:ext cx="1384300" cy="12700"/>
          </a:xfrm>
          <a:prstGeom prst="rect">
            <a:avLst/>
          </a:prstGeom>
          <a:solidFill>
            <a:srgbClr val="66756A"/>
          </a:solidFill>
          <a:ln w="12700">
            <a:solidFill>
              <a:srgbClr val="667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359400"/>
            <a:ext cx="3200400" cy="533400"/>
          </a:xfrm>
          <a:prstGeom prst="rect">
            <a:avLst/>
          </a:prstGeom>
          <a:solidFill>
            <a:srgbClr val="EDE7D8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6800" y="5359400"/>
            <a:ext cx="304800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E3A2F"/>
                </a:solidFill>
                <a:latin typeface="Helvetica"/>
                <a:ea typeface="Helvetica"/>
              </a:rPr>
              <a:t>1.4 Quality &amp;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8800" y="5410200"/>
            <a:ext cx="317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6756A"/>
                </a:solidFill>
                <a:latin typeface="Menlo"/>
                <a:ea typeface="Menlo"/>
              </a:rPr>
              <a:t>tests · CI ·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350000"/>
            <a:ext cx="685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A8792C"/>
                </a:solidFill>
                <a:latin typeface="Helvetica"/>
                <a:ea typeface="Helvetica"/>
              </a:rPr>
              <a:t>LEVEL 3 · WORK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705600"/>
            <a:ext cx="6858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756A"/>
                </a:solidFill>
                <a:latin typeface="Helvetica"/>
                <a:ea typeface="Helvetica"/>
              </a:rPr>
              <a:t>e.g. 1.2.3 — the FACULTY-first hold queue: sized in planning poker, exercised in S3.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23200" y="2235200"/>
            <a:ext cx="25400" cy="49784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2000" y="22352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COCOMO II · BASIC, ORGANIC MODE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2000" y="25146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82000" y="2667000"/>
            <a:ext cx="6959600" cy="15240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2667000"/>
            <a:ext cx="6350000" cy="15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FFFFF"/>
                </a:solidFill>
                <a:latin typeface="Helvetica"/>
                <a:ea typeface="Helvetica"/>
              </a:rPr>
              <a:t>E = a × (KLOC)^b,  a=2.4 · b=1.05</a:t>
            </a:r>
          </a:p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FFFFF"/>
                </a:solidFill>
                <a:latin typeface="Helvetica"/>
                <a:ea typeface="Helvetica"/>
              </a:rPr>
              <a:t>E = 2.4 × (1.585 KLOC)^1.05 ≈ 3.9 person-months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2000" y="45339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521200"/>
            <a:ext cx="125063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1.585 KLOC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6632" y="4521200"/>
            <a:ext cx="537876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= 1,585 measured LOC of the shipped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0" y="50673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054600"/>
            <a:ext cx="200161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Schedule estimate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7615" y="5054600"/>
            <a:ext cx="4627785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≈ 3.9 months for the modelled effort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0" y="5600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588000"/>
            <a:ext cx="1572482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1" i="0">
                <a:solidFill>
                  <a:srgbClr val="1E3A2F"/>
                </a:solidFill>
                <a:latin typeface="Helvetica"/>
                <a:ea typeface="Helvetica"/>
              </a:rPr>
              <a:t>Actual window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08482" y="5588000"/>
            <a:ext cx="5056918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 b="0" i="0">
                <a:solidFill>
                  <a:srgbClr val="1E3A2F"/>
                </a:solidFill>
                <a:latin typeface="Helvetica"/>
                <a:ea typeface="Helvetica"/>
              </a:rPr>
              <a:t>1 Jun – 4 Sep 2026 · two people, 7 sprints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0" y="6350000"/>
            <a:ext cx="69596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6756A"/>
                </a:solidFill>
                <a:latin typeface="Helvetica"/>
                <a:ea typeface="Helvetica"/>
              </a:rPr>
              <a:t>A Jun–Sep Gantt was maintained over the same window, branch by WBS branch.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7112000"/>
            <a:ext cx="14427200" cy="5588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9200" y="7112000"/>
            <a:ext cx="138430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Estimate vs reality: the model said 3.9 person-months over 3.9 months; two builders landed it in one summer.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PART 4 · PLANNING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Six risks tracked — the top three changed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14427200" cy="317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2528"/>
                <a:gridCol w="3462528"/>
                <a:gridCol w="7502144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RISK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IMPACT IF REAL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Helvetica"/>
                          <a:ea typeface="Helvetica"/>
                        </a:rPr>
                        <a:t>MITIGATION — LANDED IN CODE</a:t>
                      </a:r>
                    </a:p>
                  </a:txBody>
                  <a:tcPr anchor="ctr">
                    <a:solidFill>
                      <a:srgbClr val="1E3A2F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Data corruption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Catalogue lost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Atomic tmp + rename writes, store-tested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Requirement churn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Scope drift, blown date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Story-gated scope; re-entry via poker</a:t>
                      </a:r>
                    </a:p>
                  </a:txBody>
                  <a:tcPr anchor="ctr">
                    <a:solidFill>
                      <a:srgbClr val="EFEADC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Flaky E2E signal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False red, lost trust in CI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E3A2F"/>
                          </a:solidFill>
                          <a:latin typeface="Helvetica"/>
                          <a:ea typeface="Helvetica"/>
                        </a:rPr>
                        <a:t>Explicit selector rule (E2E-003)</a:t>
                      </a:r>
                    </a:p>
                  </a:txBody>
                  <a:tcPr anchor="ctr"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689600"/>
            <a:ext cx="144272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6756A"/>
                </a:solidFill>
                <a:latin typeface="Helvetica"/>
                <a:ea typeface="Helvetica"/>
              </a:rPr>
              <a:t>Full register: six risks, owned on the Jira board; these three earned permanent engineering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97600"/>
            <a:ext cx="4826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A8792C"/>
                </a:solidFill>
                <a:latin typeface="Helvetica"/>
                <a:ea typeface="Helvetica"/>
              </a:rPr>
              <a:t>RETROSPECTIVES THAT ACTUALLY LANDED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477000"/>
            <a:ext cx="355600" cy="254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616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6604000"/>
            <a:ext cx="98069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S2 retro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9094" y="6604000"/>
            <a:ext cx="1265910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: selector policy added to DoD after first flake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124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7112000"/>
            <a:ext cx="98069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S3 retro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9094" y="7112000"/>
            <a:ext cx="1265910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: coverage floor enforced after RES-001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632700"/>
            <a:ext cx="203200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A8792C"/>
                </a:solidFill>
                <a:latin typeface="Helvetica"/>
                <a:ea typeface="Helvetica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7620000"/>
            <a:ext cx="980694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1" i="0">
                <a:solidFill>
                  <a:srgbClr val="1E3A2F"/>
                </a:solidFill>
                <a:latin typeface="Helvetica"/>
                <a:ea typeface="Helvetica"/>
              </a:rPr>
              <a:t>S6 retro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9094" y="7620000"/>
            <a:ext cx="12659106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E3A2F"/>
                </a:solidFill>
                <a:latin typeface="Helvetica"/>
                <a:ea typeface="Helvetica"/>
              </a:rPr>
              <a:t>: authenticated-asset fetch rule after UI-002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58800"/>
            <a:ext cx="1397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8792C"/>
                </a:solidFill>
                <a:latin typeface="Helvetica"/>
                <a:ea typeface="Helvetica"/>
              </a:rPr>
              <a:t>UNIT II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44272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A2F"/>
                </a:solidFill>
                <a:latin typeface="Georgia"/>
                <a:ea typeface="Georgia"/>
              </a:rPr>
              <a:t>Unit II in four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49400"/>
            <a:ext cx="711200" cy="38100"/>
          </a:xfrm>
          <a:prstGeom prst="rect">
            <a:avLst/>
          </a:prstGeom>
          <a:solidFill>
            <a:srgbClr val="A8792C"/>
          </a:solidFill>
          <a:ln w="12700">
            <a:solidFill>
              <a:srgbClr val="A87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622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1800" y="23241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The hybrid worked: Scrum cadence, XP discipline, Kanban desk flow, Lean restraint.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1800" y="31623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Seven sprints, mean 18 points — both dips surfaced at review and healed the sprint after.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386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1800" y="40005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Board, WBS and COCOMO agree with each other: 126 pts scoped, 125 delivered, one deferred.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76800"/>
            <a:ext cx="8128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A8792C"/>
                </a:solidFill>
                <a:latin typeface="Menlo"/>
                <a:ea typeface="Menl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1800" y="4838700"/>
            <a:ext cx="13639800" cy="711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E3A2F"/>
                </a:solidFill>
                <a:latin typeface="Georgia"/>
                <a:ea typeface="Georgia"/>
              </a:rPr>
              <a:t>Every retrospective ended as a DoD rule, not a wish.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943600"/>
            <a:ext cx="14427200" cy="6096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9200" y="5943600"/>
            <a:ext cx="13843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Helvetica"/>
                <a:ea typeface="Helvetica"/>
              </a:rPr>
              <a:t>Process lesson: cadence turns honesty into a habit, not an event.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6959600"/>
            <a:ext cx="4191000" cy="558800"/>
          </a:xfrm>
          <a:prstGeom prst="roundRect">
            <a:avLst/>
          </a:prstGeom>
          <a:solidFill>
            <a:srgbClr val="1E3A2F"/>
          </a:solidFill>
          <a:ln w="12700">
            <a:solidFill>
              <a:srgbClr val="1E3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600" y="6959600"/>
            <a:ext cx="40386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Helvetica"/>
                <a:ea typeface="Helvetica"/>
              </a:rPr>
              <a:t>Delivered v1.0.0 · 4 Sep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959600"/>
            <a:ext cx="9855200" cy="55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6756A"/>
                </a:solidFill>
                <a:latin typeface="Helvetica"/>
                <a:ea typeface="Helvetica"/>
              </a:rPr>
              <a:t>Next · Unit III — how this backlog was tested, measured and shipped.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8483600"/>
            <a:ext cx="14427200" cy="12700"/>
          </a:xfrm>
          <a:prstGeom prst="rect">
            <a:avLst/>
          </a:prstGeom>
          <a:solidFill>
            <a:srgbClr val="D9D2C0"/>
          </a:solidFill>
          <a:ln w="12700">
            <a:solidFill>
              <a:srgbClr val="D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8585200"/>
            <a:ext cx="1041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Helvetica"/>
                <a:ea typeface="Helvetica"/>
              </a:rPr>
              <a:t>KCT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62000" y="8585200"/>
            <a:ext cx="18796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6756A"/>
                </a:solidFill>
                <a:latin typeface="Menlo"/>
                <a:ea typeface="Menlo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