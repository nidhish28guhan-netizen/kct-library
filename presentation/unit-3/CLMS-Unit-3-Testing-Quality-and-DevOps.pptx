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Testing,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&amp; DevOps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123 tests, 82% coverage and two Selenium journeys — the evidence behind v1.0.0.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3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0" y="2438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test pyramid · the TDD loop we actually 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BLACK-BOX TECHNIQUES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3835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Equivalence partitioning · boundary values · decision 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5232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Selenium journeys · defect ledger · coverage · white-box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QUALITY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4000" y="6629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ISO 25010 · CI/CD · CMMI-3 · the v1.0.0 release ledger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pyramid, not a coin flip: 123 tests in six suites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7112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858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Figure: test pyramid — counts as shipped at v1.0.0.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0" y="23622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3200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AUTOMATED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34798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all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0" y="39878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4826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JEST SUITES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0" y="5105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domain · repos · routes ·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0000" y="38354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0000" y="56134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64516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E2E JOURNEYS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0" y="6731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Selenium headless Chrome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90000" y="54610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0000" y="7188200"/>
            <a:ext cx="6451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 split is the strategy: fast specs hold the rules; two slow journeys guard the wiring end to 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TDD was real here — the due-date rule is the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38400"/>
            <a:ext cx="2159000" cy="7112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write the failing spec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4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3460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81400" y="2438400"/>
            <a:ext cx="2159000" cy="7112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minimum change to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1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27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48400" y="2438400"/>
            <a:ext cx="2159000" cy="7112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clean up under coverage floor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1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93900" y="2000250"/>
            <a:ext cx="5334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87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0800000">
            <a:off x="1924050" y="2368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4400" y="1701800"/>
            <a:ext cx="330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loop, per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81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381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  <a:ea typeface="Helvetica"/>
              </a:rPr>
              <a:t>The story: a loan term must end at 23:59, not midnight.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244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7600" y="47117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a spec asserted 'due at 23:59:59 on the last day' — it failed against a 00:00 parse.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356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7600" y="54229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the due-date computation moved to 23:59 in the pure domain layer; suite went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468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7600" y="61341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boundary tests at ±1 day now guard the rule — nobody re-breaks it silently.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Equivalence partitioning: test classes, not incidents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4905248"/>
                <a:gridCol w="5193792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PARTITION · BORROWER 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OF CLASS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EXPECTED 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3 books on 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14-day term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5 books on loan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30-day term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unknown member code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 matching record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404-class guard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ID, blocked account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dues at or above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block guard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51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502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One representative per partition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502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rest of the class adds no 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02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7010400"/>
            <a:ext cx="348973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Partitions came from the FR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138" y="7010400"/>
            <a:ext cx="1015006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, not from imagination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53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518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Every guard is a domain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7776" y="7518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so the specs need no mocks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Boundary values: policy lives on the edges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88900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3800"/>
                <a:gridCol w="2667000"/>
                <a:gridCol w="2489200"/>
              </a:tblGrid>
              <a:tr h="7071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BOUNDARY TESTED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VALUE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1st renewal (of 2)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2nd renewal — last 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3rd renewal — over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refused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on due day, 23:59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0 rupees fine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1 day late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 rupee accrued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ceiling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accrual reaching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 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160000" y="2362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EDGES OVER MIDDLE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0" y="2641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2819400"/>
            <a:ext cx="167284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Off-by-one lurks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86844" y="2819400"/>
            <a:ext cx="317855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: 00:00 vs 23:59 — a real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0" y="364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4800" y="3632200"/>
            <a:ext cx="157940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2 vs 3 renewals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93404" y="3632200"/>
            <a:ext cx="327199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the exact policy line per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0" y="445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4800" y="4445000"/>
            <a:ext cx="214004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Reaches 50, passes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54045" y="4445000"/>
            <a:ext cx="271135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block fires 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9596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These pins are the 'preventive maintenance' evidence on the CMMI slide — BVA tests pre-empt whole defect families.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decision table owns the can-issue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30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720"/>
                <a:gridCol w="2741168"/>
                <a:gridCol w="2308352"/>
                <a:gridCol w="2741168"/>
                <a:gridCol w="2741168"/>
                <a:gridCol w="2452624"/>
              </a:tblGrid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RULE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STATUS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UNDER LIMIT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DUES BELOW 50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COPY AVAILABLE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ISSUE?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E5646"/>
                          </a:solidFill>
                          <a:latin typeface="Menlo"/>
                          <a:ea typeface="Menlo"/>
                        </a:rPr>
                        <a:t>ALLOW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LIMIT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 (on hold)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QUEUE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083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0706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Five rules, each a one-line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0706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in the domain test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591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578600"/>
            <a:ext cx="208467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The dashes are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3073" y="6578600"/>
            <a:ext cx="1155512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blocked members never reach the dues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09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086600"/>
            <a:ext cx="268684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R5 encodes the hold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244" y="7086600"/>
            <a:ext cx="1095295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reserved copy waits for READY, not for whoever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Selenium journeys, five steps each, asserted via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68580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JOURNEY 1 ·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on the SPA (JWT)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192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search catalogue · pick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92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place a hold on the ISSUED copy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copy returns → member is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2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fines view shows 7 rupees accrued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92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92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92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836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3600" y="2286000"/>
            <a:ext cx="68580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884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JOURNEY 2 · LIBRARIAN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at the desk (JWT)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884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84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scan LIB-CSALG01-001 Code 128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884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884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issue loan → state flips to ISSUED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4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884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receipt + barcode verified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884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884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return → API asserts AVAILABLE + fine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884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884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84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086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086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 screenshot theatre: post-return state is verified through REST responses, not DOM pixels.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Three defects found, three durable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0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RES-001 · THE ONE WORTH TELLING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40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9600" y="27305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S3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9600" y="29718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cancelled READY hold could strand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4050" y="32766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873250" y="34226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ROOT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9600" y="35179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STATE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9600" y="3759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queue re-dispatch happened only on happy-path return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4050" y="40640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873250" y="42100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9600" y="43053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9600" y="45466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snapshot pre-state · redispatch to next queue member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4050" y="48514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873250" y="49974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49600" y="50927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REGRESSION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9600" y="53340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a spec now replays the cancel path every CI run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09200" y="2692400"/>
            <a:ext cx="38100" cy="3175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414000" y="26924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414000" y="26924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68000" y="28702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UI-002 · Sprint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32258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Image tags cannot send JWT for the barcode SVG.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35306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Authenticated fetch, then paint the SVG from memory.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14000" y="43688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414000" y="43688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68000" y="45466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E2E-003 · Test flake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68000" y="49022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Autofocus login selector raced page render.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68000" y="52070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Explicit selectors rule written into the Definition of Done.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4422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4422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Each defect left the codebase stronger than it was before it was found.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Statement coverage by layer — with the miss disclosed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400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5000" y="24892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75000" y="2489200"/>
            <a:ext cx="6392672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7600" y="25273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96.8%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96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5000" y="30988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75000" y="3098800"/>
            <a:ext cx="6412484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7600" y="31369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97.1%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92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5000" y="37084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75000" y="3708400"/>
            <a:ext cx="5639816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7600" y="37465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85.4%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88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75000" y="43180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75000" y="4318000"/>
            <a:ext cx="4880356" cy="330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7600" y="43561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73.9%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387600"/>
            <a:ext cx="25400" cy="2540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9200" y="2133600"/>
            <a:ext cx="177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Menlo"/>
                <a:ea typeface="Menlo"/>
              </a:rPr>
              <a:t>target 80%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232400"/>
            <a:ext cx="11176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84800"/>
            <a:ext cx="11176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Menlo"/>
                <a:ea typeface="Menlo"/>
              </a:rPr>
              <a:t>all files: 82.0% stmts · 88.1% 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905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5892800"/>
            <a:ext cx="210889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Blueprint rule 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7298" y="5892800"/>
            <a:ext cx="873690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three core modules clear the 80%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388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6375400"/>
            <a:ext cx="24307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Services sit at 73.9%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9148" y="6375400"/>
            <a:ext cx="841505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thin glue; assertions live in domain specs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87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6858000"/>
            <a:ext cx="221618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is a floor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4582" y="6858000"/>
            <a:ext cx="862961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enforced in CI, discussed in retrospectives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192000" y="2489200"/>
            <a:ext cx="3149600" cy="3048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192000" y="2489200"/>
            <a:ext cx="314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2717800"/>
            <a:ext cx="2692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0600" y="309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E3A2F"/>
                </a:solidFill>
                <a:latin typeface="Georgia"/>
                <a:ea typeface="Georgia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20600" y="370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TESTS PASSING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420600" y="4191000"/>
            <a:ext cx="2692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420600" y="436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A8792C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420600" y="497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SUITES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White-box: complexity kept in a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130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1E3A2F"/>
                </a:solidFill>
                <a:latin typeface="Georgia"/>
                <a:ea typeface="Georgia"/>
              </a:rPr>
              <a:t>2.15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AVERAGE MCCABE 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830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across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196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A8792C"/>
                </a:solidFill>
                <a:latin typeface="Georgia"/>
                <a:ea typeface="Georgia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102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MAXIMUM CC — ONE OUTLIER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9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hold-redispatch branch from RES-001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12000" y="2489200"/>
            <a:ext cx="25400" cy="3048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0" y="255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0" y="2540000"/>
            <a:ext cx="16313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Average CC 2.15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5315" y="2540000"/>
            <a:ext cx="576008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guards stay linear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378200"/>
            <a:ext cx="221272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Peak 14 is deliberate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6721" y="3378200"/>
            <a:ext cx="51786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redispatch is branchy, pinned by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0" y="4216400"/>
            <a:ext cx="269722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Halstead effort N × log2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1226" y="4216400"/>
            <a:ext cx="469417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a review smell meter, not a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635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635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Low average complexity is what let a two-person team hold 1,585 LOC and 321 functions in their heads.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ISO 25010: eight characteristics, eight pieces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Functional suitability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123 tests · 6 suites · all passing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store · state-machine guards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· RBAC on routes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Usability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keyboard-reachable · reduced-motion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layering · avg CC 2.15 · coverage floor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images · compose stack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Transferability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seed data + policy documentation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Performance efficiency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in-process JSON reads · single instance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6426200"/>
            <a:ext cx="144272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Assessment discipline: a characteristic counts as met only when a shipped artifact proves it — tests, code structure, container files or documented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213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213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Nothing claimed without a trace: each row above points at a file, a suite or a configuration that exists in the repo.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CI is the referee: lint, jest, coverage, build,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install</a:t>
            </a:r>
          </a:p>
        </p:txBody>
      </p:sp>
      <p:sp>
        <p:nvSpPr>
          <p:cNvPr id="8" name="Chevron 7"/>
          <p:cNvSpPr/>
          <p:nvPr/>
        </p:nvSpPr>
        <p:spPr>
          <a:xfrm>
            <a:off x="30226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12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lint</a:t>
            </a:r>
          </a:p>
        </p:txBody>
      </p:sp>
      <p:sp>
        <p:nvSpPr>
          <p:cNvPr id="10" name="Chevron 9"/>
          <p:cNvSpPr/>
          <p:nvPr/>
        </p:nvSpPr>
        <p:spPr>
          <a:xfrm>
            <a:off x="51308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94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jest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90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76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coverage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472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58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vite build</a:t>
            </a:r>
          </a:p>
        </p:txBody>
      </p:sp>
      <p:sp>
        <p:nvSpPr>
          <p:cNvPr id="16" name="Chevron 15"/>
          <p:cNvSpPr/>
          <p:nvPr/>
        </p:nvSpPr>
        <p:spPr>
          <a:xfrm>
            <a:off x="11455400" y="2540000"/>
            <a:ext cx="1981200" cy="7874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84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GITHUB ACTIONS · EVERY PUSH AND PULL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7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4165600"/>
            <a:ext cx="318173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jest + coverage + vite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0131" y="4165600"/>
            <a:ext cx="1045806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run in one workflow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4673600"/>
            <a:ext cx="29671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Workflow paths fixed 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5564" y="4673600"/>
            <a:ext cx="106726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YAML lives at the repo 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9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5181600"/>
            <a:ext cx="328901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floor enforced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7414" y="5181600"/>
            <a:ext cx="1035078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, so a drop fails the build, not a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38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FRONTEND IMAGE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multi-stage: build with node, serve static — slim final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912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912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706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BACKEND IMAGE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706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slim node runtime for the Express 4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680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474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COMPOSE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74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frontend + backend + shared data volume, one command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CMMI-3 habits, and four flavours of maintenance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CMMI LEVEL-3 PRACTICES AS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616200"/>
          <a:ext cx="14427200" cy="26416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10099040"/>
              </a:tblGrid>
              <a:tr h="42265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PRACTICE AREA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v1.0.0 MET 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Organizational Process Focus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cadence reused across all 7 sprints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Planning (PP)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WBS + poker estimates + capacity check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Monitoring &amp; Control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velocity vs plan; slips recovered fast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Measurement &amp; Analysis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coverage, CC, velocity as metrics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Peer Reviews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cross-review inside Definition of Done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613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MAINTENANCE TYPES — EACH ALREADY HAPPENED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92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019800"/>
            <a:ext cx="3403600" cy="762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84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96462F"/>
                </a:solidFill>
                <a:latin typeface="Menlo"/>
                <a:ea typeface="Menlo"/>
              </a:rPr>
              <a:t>CORRECTIVE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RES-001 hold stranding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6019800"/>
            <a:ext cx="34036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0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8792C"/>
                </a:solidFill>
                <a:latin typeface="Menlo"/>
                <a:ea typeface="Menlo"/>
              </a:rPr>
              <a:t>ADAPTIVE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policy term changes absorbed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6019800"/>
            <a:ext cx="3403600" cy="76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36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E5646"/>
                </a:solidFill>
                <a:latin typeface="Menlo"/>
                <a:ea typeface="Menlo"/>
              </a:rPr>
              <a:t>PERFECTIVE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36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recommendation reasons added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87200" y="6019800"/>
            <a:ext cx="34036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412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PREVENTIVE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412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BVA pins block defect families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Release ledger: v1.0.0 · 4 Sep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60600"/>
            <a:ext cx="14427200" cy="1498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6200" y="2489200"/>
            <a:ext cx="6350000" cy="104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  <a:ea typeface="Georgia"/>
              </a:rPr>
              <a:t>v1.0.0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89200"/>
            <a:ext cx="4826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DCC9A5"/>
                </a:solidFill>
                <a:latin typeface="Helvetica"/>
                <a:ea typeface="Helvetica"/>
              </a:rPr>
              <a:t>SHIPPED 4 SEP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921000"/>
            <a:ext cx="787400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Helvetica"/>
                <a:ea typeface="Helvetica"/>
              </a:rPr>
              <a:t>10 epics · 37 stories · 125 of 126 points · all seven sprints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4216400"/>
            <a:ext cx="111220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0602" y="4216400"/>
            <a:ext cx="1252759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catalogue, circulation, holds queue, fines, barcodes, RBAC desks, React SPA, Docker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6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953000"/>
            <a:ext cx="215042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Quality at the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8828" y="4953000"/>
            <a:ext cx="1148937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123 tests green · 82.4% stmts / 88.8% lines · 2 E2E journeys passing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16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KNOWN LIMITS, ON THE RECORD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096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6223000"/>
            <a:ext cx="158286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US-37 deferred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1264" y="6223000"/>
            <a:ext cx="120569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one point that did not make the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6731000"/>
            <a:ext cx="288756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Single instance, JSON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5967" y="6731000"/>
            <a:ext cx="1075223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a requirement trade-off, made crash-safe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7239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Services at 73.9% stmts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4520" y="7239000"/>
            <a:ext cx="11153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thin glue, asserted where it matters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Quality was designed in, not tested on at the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9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Pyramid economics: fast specs hold the rules, two journeys guard the wiring.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4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086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EP, BVA and decision tables turned policy into a testable contract.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11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873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Coverage, CC and ISO evidence were measured, published — misses included.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990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6609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CI, Docker and CMMI-3 habits made v1.0.0 repeatable, not lucky.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4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67400"/>
            <a:ext cx="889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1E3A2F"/>
                </a:solidFill>
                <a:latin typeface="Georgia"/>
                <a:ea typeface="Georgia"/>
              </a:rPr>
              <a:t>Thank you — questions welcome.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6294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6294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6294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Whole seminar: design in Unit I · process in Unit II · this evidence trail in Unit III.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620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Menlo"/>
                <a:ea typeface="Menlo"/>
              </a:rPr>
              <a:t>S. Nidhish Guhan S · Kawaskar J — 24CSI015 Software Engineering with Agile Practices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