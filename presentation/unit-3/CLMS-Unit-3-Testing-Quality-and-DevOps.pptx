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6256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3200" cy="91440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69600" y="3175000"/>
            <a:ext cx="5080000" cy="482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8000" b="1" i="0">
                <a:solidFill>
                  <a:srgbClr val="E3DCC8"/>
                </a:solidFill>
                <a:latin typeface="Georgia"/>
                <a:ea typeface="Georgia"/>
              </a:rPr>
              <a:t>III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762000"/>
            <a:ext cx="1270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COLLEGE LIBRARY MANAGEMENT SYSTEM · UNIVERSITY PROJECT SEMINAR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168400"/>
            <a:ext cx="88900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66756A"/>
                </a:solidFill>
                <a:latin typeface="Helvetica"/>
                <a:ea typeface="Helvetica"/>
              </a:rPr>
              <a:t>COURSE 24CSI015 · SOFTWARE ENGINEERING WITH AGILE PRACTICES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33600"/>
            <a:ext cx="8890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1">
                <a:solidFill>
                  <a:srgbClr val="A8792C"/>
                </a:solidFill>
                <a:latin typeface="Georgia"/>
                <a:ea typeface="Georgia"/>
              </a:rPr>
              <a:t>Unit III of III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65400"/>
            <a:ext cx="10922000" cy="81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1E3A2F"/>
                </a:solidFill>
                <a:latin typeface="Georgia"/>
                <a:ea typeface="Georgia"/>
              </a:rPr>
              <a:t>Testing, Quality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378200"/>
            <a:ext cx="10922000" cy="81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1E3A2F"/>
                </a:solidFill>
                <a:latin typeface="Georgia"/>
                <a:ea typeface="Georgia"/>
              </a:rPr>
              <a:t>&amp; DevOps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470400"/>
            <a:ext cx="1219200" cy="508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826000"/>
            <a:ext cx="10414000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6756A"/>
                </a:solidFill>
                <a:latin typeface="Helvetica"/>
                <a:ea typeface="Helvetica"/>
              </a:rPr>
              <a:t>123 tests, 82% coverage and two Selenium journeys — the evidence behind v1.0.0.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5969000"/>
            <a:ext cx="25400" cy="16764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19200" y="5994400"/>
            <a:ext cx="381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A8792C"/>
                </a:solidFill>
                <a:latin typeface="Helvetica"/>
                <a:ea typeface="Helvetica"/>
              </a:rPr>
              <a:t>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6400800"/>
            <a:ext cx="3048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E3A2F"/>
                </a:solidFill>
                <a:latin typeface="Helvetica"/>
                <a:ea typeface="Helvetica"/>
              </a:rPr>
              <a:t>S. Nidhish Guhan 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5200" y="6400800"/>
            <a:ext cx="5334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66756A"/>
                </a:solidFill>
                <a:latin typeface="Helvetica"/>
                <a:ea typeface="Helvetica"/>
              </a:rPr>
              <a:t>— Product Owner / Developer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9200" y="6832600"/>
            <a:ext cx="3048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E3A2F"/>
                </a:solidFill>
                <a:latin typeface="Helvetica"/>
                <a:ea typeface="Helvetica"/>
              </a:rPr>
              <a:t>Kawaskar J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5200" y="6832600"/>
            <a:ext cx="5334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66756A"/>
                </a:solidFill>
                <a:latin typeface="Helvetica"/>
                <a:ea typeface="Helvetica"/>
              </a:rPr>
              <a:t>— Scrum Master / Developer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8178800"/>
            <a:ext cx="889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66756A"/>
                </a:solidFill>
                <a:latin typeface="Menlo"/>
                <a:ea typeface="Menlo"/>
              </a:rPr>
              <a:t>Project seminar · September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2000" y="8178800"/>
            <a:ext cx="44196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6756A"/>
                </a:solidFill>
                <a:latin typeface="Menlo"/>
                <a:ea typeface="Menlo"/>
              </a:rPr>
              <a:t>deck 3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AGENDA · UNIT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What this unit covers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2098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13000"/>
            <a:ext cx="889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A8792C"/>
                </a:solidFill>
                <a:latin typeface="Menlo"/>
                <a:ea typeface="Menl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82800" y="2374900"/>
            <a:ext cx="7620000" cy="43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 i="0">
                <a:solidFill>
                  <a:srgbClr val="1E3A2F"/>
                </a:solidFill>
                <a:latin typeface="Georgia"/>
                <a:ea typeface="Georgia"/>
              </a:rPr>
              <a:t>STRATEGY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74000" y="2438400"/>
            <a:ext cx="7467600" cy="355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450" b="0" i="0">
                <a:solidFill>
                  <a:srgbClr val="66756A"/>
                </a:solidFill>
                <a:latin typeface="Helvetica"/>
                <a:ea typeface="Helvetica"/>
              </a:rPr>
              <a:t>The test pyramid · the TDD loop we actually ran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6068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810000"/>
            <a:ext cx="889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A8792C"/>
                </a:solidFill>
                <a:latin typeface="Menlo"/>
                <a:ea typeface="Menlo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82800" y="3771900"/>
            <a:ext cx="7620000" cy="43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 i="0">
                <a:solidFill>
                  <a:srgbClr val="1E3A2F"/>
                </a:solidFill>
                <a:latin typeface="Georgia"/>
                <a:ea typeface="Georgia"/>
              </a:rPr>
              <a:t>BLACK-BOX TECHNIQUES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74000" y="3835400"/>
            <a:ext cx="7467600" cy="355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450" b="0" i="0">
                <a:solidFill>
                  <a:srgbClr val="66756A"/>
                </a:solidFill>
                <a:latin typeface="Helvetica"/>
                <a:ea typeface="Helvetica"/>
              </a:rPr>
              <a:t>Equivalence partitioning · boundary values · decision tables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0038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207000"/>
            <a:ext cx="889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A8792C"/>
                </a:solidFill>
                <a:latin typeface="Menlo"/>
                <a:ea typeface="Menlo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82800" y="5168900"/>
            <a:ext cx="7620000" cy="43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 i="0">
                <a:solidFill>
                  <a:srgbClr val="1E3A2F"/>
                </a:solidFill>
                <a:latin typeface="Georgia"/>
                <a:ea typeface="Georgia"/>
              </a:rPr>
              <a:t>EVIDENCE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74000" y="5232400"/>
            <a:ext cx="7467600" cy="355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450" b="0" i="0">
                <a:solidFill>
                  <a:srgbClr val="66756A"/>
                </a:solidFill>
                <a:latin typeface="Helvetica"/>
                <a:ea typeface="Helvetica"/>
              </a:rPr>
              <a:t>Selenium journeys · defect ledger · coverage · white-box metrics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64008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6604000"/>
            <a:ext cx="889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A8792C"/>
                </a:solidFill>
                <a:latin typeface="Menlo"/>
                <a:ea typeface="Menlo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2800" y="6565900"/>
            <a:ext cx="7620000" cy="43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 i="0">
                <a:solidFill>
                  <a:srgbClr val="1E3A2F"/>
                </a:solidFill>
                <a:latin typeface="Georgia"/>
                <a:ea typeface="Georgia"/>
              </a:rPr>
              <a:t>QUALITY SYSTEM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74000" y="6629400"/>
            <a:ext cx="7467600" cy="355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450" b="0" i="0">
                <a:solidFill>
                  <a:srgbClr val="66756A"/>
                </a:solidFill>
                <a:latin typeface="Helvetica"/>
                <a:ea typeface="Helvetica"/>
              </a:rPr>
              <a:t>ISO 25010 · CI/CD · CMMI-3 · the v1.0.0 release ledger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III · PART 1 ·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A pyramid, not a coin flip: 123 tests in six suites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yra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84400"/>
            <a:ext cx="711200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6858000"/>
            <a:ext cx="7112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6756A"/>
                </a:solidFill>
                <a:latin typeface="Menlo"/>
                <a:ea typeface="Menlo"/>
              </a:rPr>
              <a:t>Figure: test pyramid — counts as shipped at v1.0.0.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90000" y="2362200"/>
            <a:ext cx="5588000" cy="78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1E3A2F"/>
                </a:solidFill>
                <a:latin typeface="Georgia"/>
                <a:ea typeface="Georgia"/>
              </a:rPr>
              <a:t>123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3200400"/>
            <a:ext cx="5588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AUTOMATED TESTS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3479800"/>
            <a:ext cx="5588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756A"/>
                </a:solidFill>
                <a:latin typeface="Helvetica"/>
                <a:ea typeface="Helvetica"/>
              </a:rPr>
              <a:t>all passing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0000" y="3987800"/>
            <a:ext cx="5588000" cy="78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1E3A2F"/>
                </a:solidFill>
                <a:latin typeface="Georgia"/>
                <a:ea typeface="Georgia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0000" y="4826000"/>
            <a:ext cx="5588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JEST SUITES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90000" y="5105400"/>
            <a:ext cx="5588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756A"/>
                </a:solidFill>
                <a:latin typeface="Helvetica"/>
                <a:ea typeface="Helvetica"/>
              </a:rPr>
              <a:t>domain · repos · routes · services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90000" y="3835400"/>
            <a:ext cx="55880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90000" y="5613400"/>
            <a:ext cx="5588000" cy="78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A8792C"/>
                </a:solidFill>
                <a:latin typeface="Georgia"/>
                <a:ea typeface="Georg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90000" y="6451600"/>
            <a:ext cx="5588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E2E JOURNEYS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90000" y="6731000"/>
            <a:ext cx="5588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756A"/>
                </a:solidFill>
                <a:latin typeface="Helvetica"/>
                <a:ea typeface="Helvetica"/>
              </a:rPr>
              <a:t>Selenium headless Chrome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90000" y="5461000"/>
            <a:ext cx="55880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90000" y="7188200"/>
            <a:ext cx="64516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66756A"/>
                </a:solidFill>
                <a:latin typeface="Helvetica"/>
                <a:ea typeface="Helvetica"/>
              </a:rPr>
              <a:t>The split is the strategy: fast specs hold the rules; two slow journeys guard the wiring end to end.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III · PART 1 ·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TDD was real here — the due-date rule is the proof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2438400"/>
            <a:ext cx="2159000" cy="711200"/>
          </a:xfrm>
          <a:prstGeom prst="roundRect">
            <a:avLst/>
          </a:prstGeom>
          <a:solidFill>
            <a:srgbClr val="96462F"/>
          </a:solidFill>
          <a:ln w="12700">
            <a:solidFill>
              <a:srgbClr val="9646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0600" y="2438400"/>
            <a:ext cx="2006600" cy="711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  <a:ea typeface="Helvetica"/>
              </a:rPr>
              <a:t>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76600"/>
            <a:ext cx="2286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6756A"/>
                </a:solidFill>
                <a:latin typeface="Helvetica"/>
                <a:ea typeface="Helvetica"/>
              </a:rPr>
              <a:t>write the failing spec first</a:t>
            </a:r>
          </a:p>
        </p:txBody>
      </p:sp>
      <p:sp>
        <p:nvSpPr>
          <p:cNvPr id="9" name="Rectangle 8"/>
          <p:cNvSpPr/>
          <p:nvPr/>
        </p:nvSpPr>
        <p:spPr>
          <a:xfrm>
            <a:off x="3124200" y="2781300"/>
            <a:ext cx="431800" cy="254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3460750" y="2698750"/>
            <a:ext cx="190500" cy="190500"/>
          </a:xfrm>
          <a:prstGeom prst="triangle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81400" y="2438400"/>
            <a:ext cx="2159000" cy="711200"/>
          </a:xfrm>
          <a:prstGeom prst="round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2438400"/>
            <a:ext cx="2006600" cy="711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  <a:ea typeface="Helvetica"/>
              </a:rPr>
              <a:t>GREEN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1400" y="3276600"/>
            <a:ext cx="2286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6756A"/>
                </a:solidFill>
                <a:latin typeface="Helvetica"/>
                <a:ea typeface="Helvetica"/>
              </a:rPr>
              <a:t>minimum change to pass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91200" y="2781300"/>
            <a:ext cx="431800" cy="254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 rot="5400000">
            <a:off x="6127750" y="2698750"/>
            <a:ext cx="190500" cy="190500"/>
          </a:xfrm>
          <a:prstGeom prst="triangle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48400" y="2438400"/>
            <a:ext cx="2159000" cy="711200"/>
          </a:xfrm>
          <a:prstGeom prst="roundRect">
            <a:avLst/>
          </a:prstGeom>
          <a:solidFill>
            <a:srgbClr val="2E5646"/>
          </a:solidFill>
          <a:ln w="12700">
            <a:solidFill>
              <a:srgbClr val="2E5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24600" y="2438400"/>
            <a:ext cx="2006600" cy="711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  <a:ea typeface="Helvetica"/>
              </a:rPr>
              <a:t>REFACTOR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276600"/>
            <a:ext cx="2286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6756A"/>
                </a:solidFill>
                <a:latin typeface="Helvetica"/>
                <a:ea typeface="Helvetica"/>
              </a:rPr>
              <a:t>clean up under coverage floor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21550" y="2006600"/>
            <a:ext cx="12700" cy="4318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993900" y="2000250"/>
            <a:ext cx="5334000" cy="127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987550" y="2006600"/>
            <a:ext cx="12700" cy="4318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Isosceles Triangle 21"/>
          <p:cNvSpPr/>
          <p:nvPr/>
        </p:nvSpPr>
        <p:spPr>
          <a:xfrm rot="10800000">
            <a:off x="1924050" y="2368550"/>
            <a:ext cx="139700" cy="139700"/>
          </a:xfrm>
          <a:prstGeom prst="triangle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24400" y="1701800"/>
            <a:ext cx="3302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6756A"/>
                </a:solidFill>
                <a:latin typeface="Menlo"/>
                <a:ea typeface="Menlo"/>
              </a:rPr>
              <a:t>loop, per story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3810000"/>
            <a:ext cx="14427200" cy="5588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19200" y="3810000"/>
            <a:ext cx="138430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  <a:ea typeface="Helvetica"/>
              </a:rPr>
              <a:t>The story: a loan term must end at 23:59, not midnight.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724400"/>
            <a:ext cx="13970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Menlo"/>
                <a:ea typeface="Menlo"/>
              </a:rPr>
              <a:t>RED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87600" y="4711700"/>
            <a:ext cx="129540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1E3A2F"/>
                </a:solidFill>
                <a:latin typeface="Helvetica"/>
                <a:ea typeface="Helvetica"/>
              </a:rPr>
              <a:t>a spec asserted 'due at 23:59:59 on the last day' — it failed against a 00:00 parse.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435600"/>
            <a:ext cx="13970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Menlo"/>
                <a:ea typeface="Menlo"/>
              </a:rPr>
              <a:t>GREEN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7600" y="5422900"/>
            <a:ext cx="129540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1E3A2F"/>
                </a:solidFill>
                <a:latin typeface="Helvetica"/>
                <a:ea typeface="Helvetica"/>
              </a:rPr>
              <a:t>the due-date computation moved to 23:59 in the pure domain layer; suite went green.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6146800"/>
            <a:ext cx="13970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Menlo"/>
                <a:ea typeface="Menlo"/>
              </a:rPr>
              <a:t>PIN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87600" y="6134100"/>
            <a:ext cx="129540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1E3A2F"/>
                </a:solidFill>
                <a:latin typeface="Helvetica"/>
                <a:ea typeface="Helvetica"/>
              </a:rPr>
              <a:t>boundary tests at ±1 day now guard the rule — nobody re-breaks it silently.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III · PART 2 · BLACK-BOX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Equivalence partitioning: test classes, not incidents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260600"/>
          <a:ext cx="14427200" cy="381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328160"/>
                <a:gridCol w="4905248"/>
                <a:gridCol w="5193792"/>
              </a:tblGrid>
              <a:tr h="6096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PARTITION · BORROWER ID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MEMBER OF CLASS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EXPECTED OUTCOME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  <a:tr h="8001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valid active STUDENT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under 3 books on loan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issue allowed · 14-day term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8001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valid active FACULTY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under 5 books on loan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issue allowed · 30-day term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8001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unknown member code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no matching record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rejected — 404-class guard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8001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valid ID, blocked account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dues at or above 50 rupees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rejected — block guard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65151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200" y="6502400"/>
            <a:ext cx="3389376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1E3A2F"/>
                </a:solidFill>
                <a:latin typeface="Helvetica"/>
                <a:ea typeface="Helvetica"/>
              </a:rPr>
              <a:t>One representative per partition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7776" y="6502400"/>
            <a:ext cx="10250424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1E3A2F"/>
                </a:solidFill>
                <a:latin typeface="Helvetica"/>
                <a:ea typeface="Helvetica"/>
              </a:rPr>
              <a:t>— the rest of the class adds no information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70231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200" y="7010400"/>
            <a:ext cx="3489738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1E3A2F"/>
                </a:solidFill>
                <a:latin typeface="Helvetica"/>
                <a:ea typeface="Helvetica"/>
              </a:rPr>
              <a:t>Partitions came from the FR 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58138" y="7010400"/>
            <a:ext cx="10150062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1E3A2F"/>
                </a:solidFill>
                <a:latin typeface="Helvetica"/>
                <a:ea typeface="Helvetica"/>
              </a:rPr>
              <a:t>, not from imagination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75311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7518400"/>
            <a:ext cx="3389376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1E3A2F"/>
                </a:solidFill>
                <a:latin typeface="Helvetica"/>
                <a:ea typeface="Helvetica"/>
              </a:rPr>
              <a:t>Every guard is a domain function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7776" y="7518400"/>
            <a:ext cx="10250424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1E3A2F"/>
                </a:solidFill>
                <a:latin typeface="Helvetica"/>
                <a:ea typeface="Helvetica"/>
              </a:rPr>
              <a:t>— so the specs need no mocks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III · PART 2 · BLACK-BOX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Boundary values: policy lives on the edges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260600"/>
          <a:ext cx="8890000" cy="4419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33800"/>
                <a:gridCol w="2667000"/>
                <a:gridCol w="2489200"/>
              </a:tblGrid>
              <a:tr h="70713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BOUNDARY TESTED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VALUE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OUTCOME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  <a:tr h="6187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renewals count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1st renewal (of 2)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allowed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6187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renewals count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2nd renewal — last one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allowed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6187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renewals count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3rd renewal — over max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refused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6187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due date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returned on due day, 23:59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0 rupees fine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6187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due date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returned 1 day late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1 rupee accrued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6187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fine ceiling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accrual reaching 50 rupees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account blocked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160000" y="23622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WHY EDGES OVER MIDDLE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0" y="26416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0" y="28321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4800" y="2819400"/>
            <a:ext cx="1672844" cy="88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 i="0">
                <a:solidFill>
                  <a:srgbClr val="1E3A2F"/>
                </a:solidFill>
                <a:latin typeface="Helvetica"/>
                <a:ea typeface="Helvetica"/>
              </a:rPr>
              <a:t>Off-by-one lurks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86844" y="2819400"/>
            <a:ext cx="3178556" cy="88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1E3A2F"/>
                </a:solidFill>
                <a:latin typeface="Helvetica"/>
                <a:ea typeface="Helvetica"/>
              </a:rPr>
              <a:t>: 00:00 vs 23:59 — a real 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0" y="36449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64800" y="3632200"/>
            <a:ext cx="1579404" cy="88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 i="0">
                <a:solidFill>
                  <a:srgbClr val="1E3A2F"/>
                </a:solidFill>
                <a:latin typeface="Helvetica"/>
                <a:ea typeface="Helvetica"/>
              </a:rPr>
              <a:t>2 vs 3 renewals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993404" y="3632200"/>
            <a:ext cx="3271996" cy="88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1E3A2F"/>
                </a:solidFill>
                <a:latin typeface="Helvetica"/>
                <a:ea typeface="Helvetica"/>
              </a:rPr>
              <a:t>— the exact policy line per role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60000" y="4457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4800" y="4445000"/>
            <a:ext cx="2140045" cy="88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 i="0">
                <a:solidFill>
                  <a:srgbClr val="1E3A2F"/>
                </a:solidFill>
                <a:latin typeface="Helvetica"/>
                <a:ea typeface="Helvetica"/>
              </a:rPr>
              <a:t>Reaches 50, passes 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54045" y="4445000"/>
            <a:ext cx="2711355" cy="88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1E3A2F"/>
                </a:solidFill>
                <a:latin typeface="Helvetica"/>
                <a:ea typeface="Helvetica"/>
              </a:rPr>
              <a:t>— block fires once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6959600"/>
            <a:ext cx="144272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6756A"/>
                </a:solidFill>
                <a:latin typeface="Helvetica"/>
                <a:ea typeface="Helvetica"/>
              </a:rPr>
              <a:t>These pins are the 'preventive maintenance' evidence on the CMMI slide — BVA tests pre-empt whole defect families.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III · PART 2 · BLACK-BOX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One decision table owns the can-issue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286000"/>
          <a:ext cx="14427200" cy="330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720"/>
                <a:gridCol w="2741168"/>
                <a:gridCol w="2308352"/>
                <a:gridCol w="2741168"/>
                <a:gridCol w="2741168"/>
                <a:gridCol w="2452624"/>
              </a:tblGrid>
              <a:tr h="52832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RULE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MEMBER STATUS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UNDER LIMIT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DUES BELOW 50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COPY AVAILABLE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ISSUE?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  <a:tr h="55473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R1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ACTIVE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Y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Y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Y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E5646"/>
                          </a:solidFill>
                          <a:latin typeface="Menlo"/>
                          <a:ea typeface="Menlo"/>
                        </a:rPr>
                        <a:t>ALLOW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55473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R2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ACTIVE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N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Y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Y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96462F"/>
                          </a:solidFill>
                          <a:latin typeface="Menlo"/>
                          <a:ea typeface="Menlo"/>
                        </a:rPr>
                        <a:t>REFUSE · LIMIT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55473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R3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ACTIVE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Y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N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Y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96462F"/>
                          </a:solidFill>
                          <a:latin typeface="Menlo"/>
                          <a:ea typeface="Menlo"/>
                        </a:rPr>
                        <a:t>REFUSE · BLOCK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55473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R4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BLOCKED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—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—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Y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96462F"/>
                          </a:solidFill>
                          <a:latin typeface="Menlo"/>
                          <a:ea typeface="Menlo"/>
                        </a:rPr>
                        <a:t>REFUSE · STATUS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55473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R5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ACTIVE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Y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Y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N (on hold)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96462F"/>
                          </a:solidFill>
                          <a:latin typeface="Menlo"/>
                          <a:ea typeface="Menlo"/>
                        </a:rPr>
                        <a:t>REFUSE · QUEUE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60833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200" y="6070600"/>
            <a:ext cx="3389376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1E3A2F"/>
                </a:solidFill>
                <a:latin typeface="Helvetica"/>
                <a:ea typeface="Helvetica"/>
              </a:rPr>
              <a:t>Five rules, each a one-line spec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7776" y="6070600"/>
            <a:ext cx="10250424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1E3A2F"/>
                </a:solidFill>
                <a:latin typeface="Helvetica"/>
                <a:ea typeface="Helvetica"/>
              </a:rPr>
              <a:t>in the domain test suite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5913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200" y="6578600"/>
            <a:ext cx="2084673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1E3A2F"/>
                </a:solidFill>
                <a:latin typeface="Helvetica"/>
                <a:ea typeface="Helvetica"/>
              </a:rPr>
              <a:t>The dashes are real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53073" y="6578600"/>
            <a:ext cx="11555127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1E3A2F"/>
                </a:solidFill>
                <a:latin typeface="Helvetica"/>
                <a:ea typeface="Helvetica"/>
              </a:rPr>
              <a:t>— blocked members never reach the dues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70993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7086600"/>
            <a:ext cx="2686844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1E3A2F"/>
                </a:solidFill>
                <a:latin typeface="Helvetica"/>
                <a:ea typeface="Helvetica"/>
              </a:rPr>
              <a:t>R5 encodes the hold queue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55244" y="7086600"/>
            <a:ext cx="10952956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1E3A2F"/>
                </a:solidFill>
                <a:latin typeface="Helvetica"/>
                <a:ea typeface="Helvetica"/>
              </a:rPr>
              <a:t>— the reserved copy waits for READY, not for whoever asks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III · PART 3 ·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Two Selenium journeys, five steps each, asserted via API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286000"/>
            <a:ext cx="6858000" cy="44450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286000"/>
            <a:ext cx="6858000" cy="762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19200" y="2540000"/>
            <a:ext cx="62484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1E3A2F"/>
                </a:solidFill>
                <a:latin typeface="Helvetica"/>
                <a:ea typeface="Helvetica"/>
              </a:rPr>
              <a:t>JOURNEY 1 · STUDENT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9200" y="3022600"/>
            <a:ext cx="62484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E3A2F"/>
                </a:solidFill>
                <a:latin typeface="Helvetica"/>
                <a:ea typeface="Helvetica"/>
              </a:rPr>
              <a:t>1  log in on the SPA (JWT)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19200" y="2997200"/>
            <a:ext cx="62484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19200" y="3581400"/>
            <a:ext cx="62484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E3A2F"/>
                </a:solidFill>
                <a:latin typeface="Helvetica"/>
                <a:ea typeface="Helvetica"/>
              </a:rPr>
              <a:t>2  search catalogue · pick a copy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19200" y="3556000"/>
            <a:ext cx="62484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19200" y="4140200"/>
            <a:ext cx="62484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E3A2F"/>
                </a:solidFill>
                <a:latin typeface="Helvetica"/>
                <a:ea typeface="Helvetica"/>
              </a:rPr>
              <a:t>3  place a hold on the ISSUED copy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19200" y="4114800"/>
            <a:ext cx="62484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19200" y="4699000"/>
            <a:ext cx="62484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E3A2F"/>
                </a:solidFill>
                <a:latin typeface="Helvetica"/>
                <a:ea typeface="Helvetica"/>
              </a:rPr>
              <a:t>4  copy returns → member is READY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19200" y="4673600"/>
            <a:ext cx="62484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19200" y="5257800"/>
            <a:ext cx="62484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E3A2F"/>
                </a:solidFill>
                <a:latin typeface="Helvetica"/>
                <a:ea typeface="Helvetica"/>
              </a:rPr>
              <a:t>5  fines view shows 7 rupees accrued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19200" y="5232400"/>
            <a:ext cx="62484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219200" y="5969000"/>
            <a:ext cx="62484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19200" y="6070600"/>
            <a:ext cx="6248400" cy="43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6756A"/>
                </a:solidFill>
                <a:latin typeface="Menlo"/>
                <a:ea typeface="Menlo"/>
              </a:rPr>
              <a:t>headless Chrome · 5 steps · passing at v1.0.0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83600" y="2286000"/>
            <a:ext cx="6858000" cy="44450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83600" y="2286000"/>
            <a:ext cx="6858000" cy="762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88400" y="2540000"/>
            <a:ext cx="62484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A8792C"/>
                </a:solidFill>
                <a:latin typeface="Helvetica"/>
                <a:ea typeface="Helvetica"/>
              </a:rPr>
              <a:t>JOURNEY 2 · LIBRARIAN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88400" y="3022600"/>
            <a:ext cx="62484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E3A2F"/>
                </a:solidFill>
                <a:latin typeface="Helvetica"/>
                <a:ea typeface="Helvetica"/>
              </a:rPr>
              <a:t>1  log in at the desk (JWT)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88400" y="2997200"/>
            <a:ext cx="62484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88400" y="3581400"/>
            <a:ext cx="62484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E3A2F"/>
                </a:solidFill>
                <a:latin typeface="Helvetica"/>
                <a:ea typeface="Helvetica"/>
              </a:rPr>
              <a:t>2  scan LIB-CSALG01-001 Code 128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88400" y="3556000"/>
            <a:ext cx="62484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88400" y="4140200"/>
            <a:ext cx="62484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E3A2F"/>
                </a:solidFill>
                <a:latin typeface="Helvetica"/>
                <a:ea typeface="Helvetica"/>
              </a:rPr>
              <a:t>3  issue loan → state flips to ISSUED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400" y="4114800"/>
            <a:ext cx="62484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88400" y="4699000"/>
            <a:ext cx="62484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E3A2F"/>
                </a:solidFill>
                <a:latin typeface="Helvetica"/>
                <a:ea typeface="Helvetica"/>
              </a:rPr>
              <a:t>4  receipt + barcode verified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88400" y="4673600"/>
            <a:ext cx="62484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88400" y="5257800"/>
            <a:ext cx="62484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E3A2F"/>
                </a:solidFill>
                <a:latin typeface="Helvetica"/>
                <a:ea typeface="Helvetica"/>
              </a:rPr>
              <a:t>5  return → API asserts AVAILABLE + fine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788400" y="5232400"/>
            <a:ext cx="62484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788400" y="5969000"/>
            <a:ext cx="62484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88400" y="6070600"/>
            <a:ext cx="6248400" cy="43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6756A"/>
                </a:solidFill>
                <a:latin typeface="Menlo"/>
                <a:ea typeface="Menlo"/>
              </a:rPr>
              <a:t>headless Chrome · 5 steps · passing at v1.0.0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7086600"/>
            <a:ext cx="14427200" cy="5588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19200" y="7086600"/>
            <a:ext cx="138430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Helvetica"/>
                <a:ea typeface="Helvetica"/>
              </a:rPr>
              <a:t>No screenshot theatre: post-return state is verified through REST responses, not DOM pixels.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III · PART 3 ·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Three defects found, three durable fixes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606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RES-001 · THE ONE WORTH TELLING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5400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692400"/>
            <a:ext cx="2032000" cy="5842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692400"/>
            <a:ext cx="2032000" cy="584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FFFFFF"/>
                </a:solidFill>
                <a:latin typeface="Menlo"/>
                <a:ea typeface="Menlo"/>
              </a:rPr>
              <a:t>FOUND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49600" y="2730500"/>
            <a:ext cx="3556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A8792C"/>
                </a:solidFill>
                <a:latin typeface="Helvetica"/>
                <a:ea typeface="Helvetica"/>
              </a:rPr>
              <a:t>S3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49600" y="2971800"/>
            <a:ext cx="68580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cancelled READY hold could strand a copy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24050" y="3276600"/>
            <a:ext cx="12700" cy="2032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 rot="10800000">
            <a:off x="1873250" y="3422650"/>
            <a:ext cx="114300" cy="114300"/>
          </a:xfrm>
          <a:prstGeom prst="triangle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3479800"/>
            <a:ext cx="2032000" cy="5842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479800"/>
            <a:ext cx="2032000" cy="584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FFFFFF"/>
                </a:solidFill>
                <a:latin typeface="Menlo"/>
                <a:ea typeface="Menlo"/>
              </a:rPr>
              <a:t>ROOT CAUSE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49600" y="3517900"/>
            <a:ext cx="3556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A8792C"/>
                </a:solidFill>
                <a:latin typeface="Helvetica"/>
                <a:ea typeface="Helvetica"/>
              </a:rPr>
              <a:t>STATE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49600" y="3759200"/>
            <a:ext cx="68580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queue re-dispatch happened only on happy-path return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24050" y="4064000"/>
            <a:ext cx="12700" cy="2032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sosceles Triangle 18"/>
          <p:cNvSpPr/>
          <p:nvPr/>
        </p:nvSpPr>
        <p:spPr>
          <a:xfrm rot="10800000">
            <a:off x="1873250" y="4210050"/>
            <a:ext cx="114300" cy="114300"/>
          </a:xfrm>
          <a:prstGeom prst="triangle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" y="4267200"/>
            <a:ext cx="2032000" cy="5842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267200"/>
            <a:ext cx="2032000" cy="584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FFFFFF"/>
                </a:solidFill>
                <a:latin typeface="Menlo"/>
                <a:ea typeface="Menlo"/>
              </a:rPr>
              <a:t>FIX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49600" y="4305300"/>
            <a:ext cx="3556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A8792C"/>
                </a:solidFill>
                <a:latin typeface="Helvetica"/>
                <a:ea typeface="Helvetica"/>
              </a:rPr>
              <a:t>DOMAIN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49600" y="4546600"/>
            <a:ext cx="68580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snapshot pre-state · redispatch to next queue member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924050" y="4851400"/>
            <a:ext cx="12700" cy="2032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Isosceles Triangle 24"/>
          <p:cNvSpPr/>
          <p:nvPr/>
        </p:nvSpPr>
        <p:spPr>
          <a:xfrm rot="10800000">
            <a:off x="1873250" y="4997450"/>
            <a:ext cx="114300" cy="114300"/>
          </a:xfrm>
          <a:prstGeom prst="triangle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4400" y="5054600"/>
            <a:ext cx="2032000" cy="5842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054600"/>
            <a:ext cx="2032000" cy="584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FFFFFF"/>
                </a:solidFill>
                <a:latin typeface="Menlo"/>
                <a:ea typeface="Menlo"/>
              </a:rPr>
              <a:t>PIN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49600" y="5092700"/>
            <a:ext cx="3556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A8792C"/>
                </a:solidFill>
                <a:latin typeface="Helvetica"/>
                <a:ea typeface="Helvetica"/>
              </a:rPr>
              <a:t>REGRESSION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49600" y="5334000"/>
            <a:ext cx="68580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a spec now replays the cancel path every CI run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09200" y="2692400"/>
            <a:ext cx="38100" cy="31750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414000" y="2692400"/>
            <a:ext cx="4927600" cy="14986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414000" y="2692400"/>
            <a:ext cx="4927600" cy="635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668000" y="2870200"/>
            <a:ext cx="44196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1E3A2F"/>
                </a:solidFill>
                <a:latin typeface="Menlo"/>
                <a:ea typeface="Menlo"/>
              </a:rPr>
              <a:t>UI-002 · Sprint 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68000" y="3225800"/>
            <a:ext cx="4419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756A"/>
                </a:solidFill>
                <a:latin typeface="Helvetica"/>
                <a:ea typeface="Helvetica"/>
              </a:rPr>
              <a:t>Symptom — Image tags cannot send JWT for the barcode SVG.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68000" y="3530600"/>
            <a:ext cx="44196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E3A2F"/>
                </a:solidFill>
                <a:latin typeface="Helvetica"/>
                <a:ea typeface="Helvetica"/>
              </a:rPr>
              <a:t>Fix — Authenticated fetch, then paint the SVG from memory.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414000" y="4368800"/>
            <a:ext cx="4927600" cy="14986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414000" y="4368800"/>
            <a:ext cx="4927600" cy="635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668000" y="4546600"/>
            <a:ext cx="44196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1E3A2F"/>
                </a:solidFill>
                <a:latin typeface="Menlo"/>
                <a:ea typeface="Menlo"/>
              </a:rPr>
              <a:t>E2E-003 · Test flake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68000" y="4902200"/>
            <a:ext cx="4419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756A"/>
                </a:solidFill>
                <a:latin typeface="Helvetica"/>
                <a:ea typeface="Helvetica"/>
              </a:rPr>
              <a:t>Symptom — Autofocus login selector raced page render.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68000" y="5207000"/>
            <a:ext cx="44196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E3A2F"/>
                </a:solidFill>
                <a:latin typeface="Helvetica"/>
                <a:ea typeface="Helvetica"/>
              </a:rPr>
              <a:t>Fix — Explicit selectors rule written into the Definition of Done.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" y="7442200"/>
            <a:ext cx="14427200" cy="5334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19200" y="7442200"/>
            <a:ext cx="13843000" cy="533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Helvetica"/>
                <a:ea typeface="Helvetica"/>
              </a:rPr>
              <a:t>Each defect left the codebase stronger than it was before it was found.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III · PART 3 ·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Statement coverage by layer — with the miss disclosed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540000"/>
            <a:ext cx="21590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E3A2F"/>
                </a:solidFill>
                <a:latin typeface="Menlo"/>
                <a:ea typeface="Menlo"/>
              </a:rPr>
              <a:t>domain</a:t>
            </a:r>
          </a:p>
        </p:txBody>
      </p:sp>
      <p:sp>
        <p:nvSpPr>
          <p:cNvPr id="7" name="Rectangle 6"/>
          <p:cNvSpPr/>
          <p:nvPr/>
        </p:nvSpPr>
        <p:spPr>
          <a:xfrm>
            <a:off x="3175000" y="2489200"/>
            <a:ext cx="6604000" cy="330200"/>
          </a:xfrm>
          <a:prstGeom prst="rect">
            <a:avLst/>
          </a:prstGeom>
          <a:solidFill>
            <a:srgbClr val="EBE5D6"/>
          </a:solidFill>
          <a:ln w="12700">
            <a:solidFill>
              <a:srgbClr val="EBE5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175000" y="2489200"/>
            <a:ext cx="6392672" cy="330200"/>
          </a:xfrm>
          <a:prstGeom prst="rect">
            <a:avLst/>
          </a:prstGeom>
          <a:solidFill>
            <a:srgbClr val="2E5646"/>
          </a:solidFill>
          <a:ln w="12700">
            <a:solidFill>
              <a:srgbClr val="2E5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7600" y="2527300"/>
            <a:ext cx="16510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E5646"/>
                </a:solidFill>
                <a:latin typeface="Menlo"/>
                <a:ea typeface="Menlo"/>
              </a:rPr>
              <a:t>96.8%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49600"/>
            <a:ext cx="21590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E3A2F"/>
                </a:solidFill>
                <a:latin typeface="Menlo"/>
                <a:ea typeface="Menlo"/>
              </a:rPr>
              <a:t>repositories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75000" y="3098800"/>
            <a:ext cx="6604000" cy="330200"/>
          </a:xfrm>
          <a:prstGeom prst="rect">
            <a:avLst/>
          </a:prstGeom>
          <a:solidFill>
            <a:srgbClr val="EBE5D6"/>
          </a:solidFill>
          <a:ln w="12700">
            <a:solidFill>
              <a:srgbClr val="EBE5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175000" y="3098800"/>
            <a:ext cx="6412484" cy="330200"/>
          </a:xfrm>
          <a:prstGeom prst="rect">
            <a:avLst/>
          </a:prstGeom>
          <a:solidFill>
            <a:srgbClr val="2E5646"/>
          </a:solidFill>
          <a:ln w="12700">
            <a:solidFill>
              <a:srgbClr val="2E5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7600" y="3136900"/>
            <a:ext cx="16510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E5646"/>
                </a:solidFill>
                <a:latin typeface="Menlo"/>
                <a:ea typeface="Menlo"/>
              </a:rPr>
              <a:t>97.1%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59200"/>
            <a:ext cx="21590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E3A2F"/>
                </a:solidFill>
                <a:latin typeface="Menlo"/>
                <a:ea typeface="Menlo"/>
              </a:rPr>
              <a:t>routes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75000" y="3708400"/>
            <a:ext cx="6604000" cy="330200"/>
          </a:xfrm>
          <a:prstGeom prst="rect">
            <a:avLst/>
          </a:prstGeom>
          <a:solidFill>
            <a:srgbClr val="EBE5D6"/>
          </a:solidFill>
          <a:ln w="12700">
            <a:solidFill>
              <a:srgbClr val="EBE5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175000" y="3708400"/>
            <a:ext cx="5639816" cy="330200"/>
          </a:xfrm>
          <a:prstGeom prst="rect">
            <a:avLst/>
          </a:prstGeom>
          <a:solidFill>
            <a:srgbClr val="2E5646"/>
          </a:solidFill>
          <a:ln w="12700">
            <a:solidFill>
              <a:srgbClr val="2E5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07600" y="3746500"/>
            <a:ext cx="16510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E5646"/>
                </a:solidFill>
                <a:latin typeface="Menlo"/>
                <a:ea typeface="Menlo"/>
              </a:rPr>
              <a:t>85.4%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68800"/>
            <a:ext cx="21590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E3A2F"/>
                </a:solidFill>
                <a:latin typeface="Menlo"/>
                <a:ea typeface="Menlo"/>
              </a:rPr>
              <a:t>services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75000" y="4318000"/>
            <a:ext cx="6604000" cy="330200"/>
          </a:xfrm>
          <a:prstGeom prst="rect">
            <a:avLst/>
          </a:prstGeom>
          <a:solidFill>
            <a:srgbClr val="EBE5D6"/>
          </a:solidFill>
          <a:ln w="12700">
            <a:solidFill>
              <a:srgbClr val="EBE5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175000" y="4318000"/>
            <a:ext cx="4880356" cy="3302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07600" y="4356100"/>
            <a:ext cx="16510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A8792C"/>
                </a:solidFill>
                <a:latin typeface="Menlo"/>
                <a:ea typeface="Menlo"/>
              </a:rPr>
              <a:t>73.9%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58200" y="2387600"/>
            <a:ext cx="25400" cy="25400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69200" y="2133600"/>
            <a:ext cx="1778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A8792C"/>
                </a:solidFill>
                <a:latin typeface="Menlo"/>
                <a:ea typeface="Menlo"/>
              </a:rPr>
              <a:t>target 80%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5232400"/>
            <a:ext cx="111760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384800"/>
            <a:ext cx="111760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E3A2F"/>
                </a:solidFill>
                <a:latin typeface="Menlo"/>
                <a:ea typeface="Menlo"/>
              </a:rPr>
              <a:t>all files: 82.0% stmts · 88.1% lines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9055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9200" y="5892800"/>
            <a:ext cx="2108898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Blueprint rule met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77298" y="5892800"/>
            <a:ext cx="8736902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: three core modules clear the 80% target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63881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9200" y="6375400"/>
            <a:ext cx="2430748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Services sit at 73.9%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99148" y="6375400"/>
            <a:ext cx="8415052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thin glue; assertions live in domain specs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6870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19200" y="6858000"/>
            <a:ext cx="2216182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Coverage is a floor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84582" y="6858000"/>
            <a:ext cx="8629618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: enforced in CI, discussed in retrospectives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2192000" y="2489200"/>
            <a:ext cx="3149600" cy="30480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2192000" y="2489200"/>
            <a:ext cx="3149600" cy="635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20600" y="2717800"/>
            <a:ext cx="26924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A8792C"/>
                </a:solidFill>
                <a:latin typeface="Helvetica"/>
                <a:ea typeface="Helvetica"/>
              </a:rPr>
              <a:t>MEASURED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420600" y="3098800"/>
            <a:ext cx="26924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E3A2F"/>
                </a:solidFill>
                <a:latin typeface="Georgia"/>
                <a:ea typeface="Georgia"/>
              </a:rPr>
              <a:t>123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420600" y="3708400"/>
            <a:ext cx="2692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TESTS PASSING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420600" y="4191000"/>
            <a:ext cx="26924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420600" y="4368800"/>
            <a:ext cx="26924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A8792C"/>
                </a:solidFill>
                <a:latin typeface="Georgia"/>
                <a:ea typeface="Georgia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420600" y="4978400"/>
            <a:ext cx="2692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SUITES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III · PART 3 ·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White-box: complexity kept in a ledger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413000"/>
            <a:ext cx="5334000" cy="939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i="0">
                <a:solidFill>
                  <a:srgbClr val="1E3A2F"/>
                </a:solidFill>
                <a:latin typeface="Georgia"/>
                <a:ea typeface="Georgia"/>
              </a:rPr>
              <a:t>2.15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403600"/>
            <a:ext cx="533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AVERAGE MCCABE CC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83000"/>
            <a:ext cx="533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756A"/>
                </a:solidFill>
                <a:latin typeface="Helvetica"/>
                <a:ea typeface="Helvetica"/>
              </a:rPr>
              <a:t>across the backend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19600"/>
            <a:ext cx="5334000" cy="939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i="0">
                <a:solidFill>
                  <a:srgbClr val="A8792C"/>
                </a:solidFill>
                <a:latin typeface="Georgia"/>
                <a:ea typeface="Georgia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410200"/>
            <a:ext cx="533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MAXIMUM CC — ONE OUTLIER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689600"/>
            <a:ext cx="533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756A"/>
                </a:solidFill>
                <a:latin typeface="Helvetica"/>
                <a:ea typeface="Helvetica"/>
              </a:rPr>
              <a:t>the hold-redispatch branch from RES-001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12000" y="2489200"/>
            <a:ext cx="25400" cy="30480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0" y="2552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4800" y="2540000"/>
            <a:ext cx="163131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E3A2F"/>
                </a:solidFill>
                <a:latin typeface="Helvetica"/>
                <a:ea typeface="Helvetica"/>
              </a:rPr>
              <a:t>Average CC 2.15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5315" y="2540000"/>
            <a:ext cx="576008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1E3A2F"/>
                </a:solidFill>
                <a:latin typeface="Helvetica"/>
                <a:ea typeface="Helvetica"/>
              </a:rPr>
              <a:t>— guards stay linear by design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0" y="33909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4800" y="3378200"/>
            <a:ext cx="2212721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E3A2F"/>
                </a:solidFill>
                <a:latin typeface="Helvetica"/>
                <a:ea typeface="Helvetica"/>
              </a:rPr>
              <a:t>Peak 14 is deliberate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86721" y="3378200"/>
            <a:ext cx="517867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1E3A2F"/>
                </a:solidFill>
                <a:latin typeface="Helvetica"/>
                <a:ea typeface="Helvetica"/>
              </a:rPr>
              <a:t>— redispatch is branchy, pinned by tests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0" y="42291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4800" y="4216400"/>
            <a:ext cx="269722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E3A2F"/>
                </a:solidFill>
                <a:latin typeface="Helvetica"/>
                <a:ea typeface="Helvetica"/>
              </a:rPr>
              <a:t>Halstead effort N × log2 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71226" y="4216400"/>
            <a:ext cx="4694174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1E3A2F"/>
                </a:solidFill>
                <a:latin typeface="Helvetica"/>
                <a:ea typeface="Helvetica"/>
              </a:rPr>
              <a:t>— a review smell meter, not a gate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6350000"/>
            <a:ext cx="14427200" cy="5588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19200" y="6350000"/>
            <a:ext cx="138430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Helvetica"/>
                <a:ea typeface="Helvetica"/>
              </a:rPr>
              <a:t>Low average complexity is what let a two-person team hold 1,585 LOC and 321 functions in their heads.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III · PART 4 · QUALITY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ISO 25010: eight characteristics, eight pieces of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362200"/>
          <a:ext cx="6959600" cy="3683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44648"/>
                <a:gridCol w="4314952"/>
              </a:tblGrid>
              <a:tr h="58928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CHARACTERISTIC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EVIDENCE IN v1.0.0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  <a:tr h="77343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Functional suitability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123 tests · 6 suites · all passing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77343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Reliability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atomic store · state-machine guards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77343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Security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JWT · bcryptjs · RBAC on routes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77343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Usability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keyboard-reachable · reduced-motion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382000" y="2362200"/>
          <a:ext cx="6959600" cy="3683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44648"/>
                <a:gridCol w="4314952"/>
              </a:tblGrid>
              <a:tr h="58928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CHARACTERISTIC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EVIDENCE IN v1.0.0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  <a:tr h="77343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Maintainability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layering · avg CC 2.15 · coverage floor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77343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Portability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Docker images · compose stack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77343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Transferability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seed data + policy documentation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77343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Performance efficiency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in-process JSON reads · single instance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914400" y="6426200"/>
            <a:ext cx="144272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6756A"/>
                </a:solidFill>
                <a:latin typeface="Helvetica"/>
                <a:ea typeface="Helvetica"/>
              </a:rPr>
              <a:t>Assessment discipline: a characteristic counts as met only when a shipped artifact proves it — tests, code structure, container files or documented data.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7213600"/>
            <a:ext cx="14427200" cy="5588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19200" y="7213600"/>
            <a:ext cx="138430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Helvetica"/>
                <a:ea typeface="Helvetica"/>
              </a:rPr>
              <a:t>Nothing claimed without a trace: each row above points at a file, a suite or a configuration that exists in the repo.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III · PART 4 · QUALITY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CI is the referee: lint, jest, coverage, build, 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914400" y="2540000"/>
            <a:ext cx="1981200" cy="787400"/>
          </a:xfrm>
          <a:prstGeom prst="chevron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540000"/>
            <a:ext cx="1676400" cy="787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Menlo"/>
                <a:ea typeface="Menlo"/>
              </a:rPr>
              <a:t>install</a:t>
            </a:r>
          </a:p>
        </p:txBody>
      </p:sp>
      <p:sp>
        <p:nvSpPr>
          <p:cNvPr id="8" name="Chevron 7"/>
          <p:cNvSpPr/>
          <p:nvPr/>
        </p:nvSpPr>
        <p:spPr>
          <a:xfrm>
            <a:off x="3022600" y="2540000"/>
            <a:ext cx="1981200" cy="787400"/>
          </a:xfrm>
          <a:prstGeom prst="chevron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51200" y="2540000"/>
            <a:ext cx="1676400" cy="787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Menlo"/>
                <a:ea typeface="Menlo"/>
              </a:rPr>
              <a:t>lint</a:t>
            </a:r>
          </a:p>
        </p:txBody>
      </p:sp>
      <p:sp>
        <p:nvSpPr>
          <p:cNvPr id="10" name="Chevron 9"/>
          <p:cNvSpPr/>
          <p:nvPr/>
        </p:nvSpPr>
        <p:spPr>
          <a:xfrm>
            <a:off x="5130800" y="2540000"/>
            <a:ext cx="1981200" cy="787400"/>
          </a:xfrm>
          <a:prstGeom prst="chevron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59400" y="2540000"/>
            <a:ext cx="1676400" cy="787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Menlo"/>
                <a:ea typeface="Menlo"/>
              </a:rPr>
              <a:t>jest</a:t>
            </a:r>
          </a:p>
        </p:txBody>
      </p:sp>
      <p:sp>
        <p:nvSpPr>
          <p:cNvPr id="12" name="Chevron 11"/>
          <p:cNvSpPr/>
          <p:nvPr/>
        </p:nvSpPr>
        <p:spPr>
          <a:xfrm>
            <a:off x="7239000" y="2540000"/>
            <a:ext cx="1981200" cy="787400"/>
          </a:xfrm>
          <a:prstGeom prst="chevron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67600" y="2540000"/>
            <a:ext cx="1676400" cy="787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Menlo"/>
                <a:ea typeface="Menlo"/>
              </a:rPr>
              <a:t>coverage</a:t>
            </a:r>
          </a:p>
        </p:txBody>
      </p:sp>
      <p:sp>
        <p:nvSpPr>
          <p:cNvPr id="14" name="Chevron 13"/>
          <p:cNvSpPr/>
          <p:nvPr/>
        </p:nvSpPr>
        <p:spPr>
          <a:xfrm>
            <a:off x="9347200" y="2540000"/>
            <a:ext cx="1981200" cy="787400"/>
          </a:xfrm>
          <a:prstGeom prst="chevron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75800" y="2540000"/>
            <a:ext cx="1676400" cy="787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Menlo"/>
                <a:ea typeface="Menlo"/>
              </a:rPr>
              <a:t>vite build</a:t>
            </a:r>
          </a:p>
        </p:txBody>
      </p:sp>
      <p:sp>
        <p:nvSpPr>
          <p:cNvPr id="16" name="Chevron 15"/>
          <p:cNvSpPr/>
          <p:nvPr/>
        </p:nvSpPr>
        <p:spPr>
          <a:xfrm>
            <a:off x="11455400" y="2540000"/>
            <a:ext cx="1981200" cy="787400"/>
          </a:xfrm>
          <a:prstGeom prst="chevron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684000" y="2540000"/>
            <a:ext cx="1676400" cy="787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Menlo"/>
                <a:ea typeface="Menlo"/>
              </a:rPr>
              <a:t>docker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657600"/>
            <a:ext cx="14427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GITHUB ACTIONS · EVERY PUSH AND PULL REQUEST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1783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19200" y="4165600"/>
            <a:ext cx="3181731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jest + coverage + vite build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50131" y="4165600"/>
            <a:ext cx="10458069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run in one workflow file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6863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9200" y="4673600"/>
            <a:ext cx="2967165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Workflow paths fixed early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35564" y="4673600"/>
            <a:ext cx="10672636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the YAML lives at the repo root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1943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9200" y="5181600"/>
            <a:ext cx="3289014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Coverage floor enforced in CI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57414" y="5181600"/>
            <a:ext cx="10350786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, so a drop fails the build, not a review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5969000"/>
            <a:ext cx="4521200" cy="16510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14400" y="5969000"/>
            <a:ext cx="4521200" cy="635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93800" y="6197600"/>
            <a:ext cx="39624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A8792C"/>
                </a:solidFill>
                <a:latin typeface="Menlo"/>
                <a:ea typeface="Menlo"/>
              </a:rPr>
              <a:t>FRONTEND IMAGE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93800" y="6553200"/>
            <a:ext cx="3962400" cy="88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multi-stage: build with node, serve static — slim final layer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91200" y="5969000"/>
            <a:ext cx="4521200" cy="16510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791200" y="5969000"/>
            <a:ext cx="4521200" cy="635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70600" y="6197600"/>
            <a:ext cx="39624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A8792C"/>
                </a:solidFill>
                <a:latin typeface="Menlo"/>
                <a:ea typeface="Menlo"/>
              </a:rPr>
              <a:t>BACKEND IMAGE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70600" y="6553200"/>
            <a:ext cx="3962400" cy="88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slim node runtime for the Express 4 API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68000" y="5969000"/>
            <a:ext cx="4521200" cy="16510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668000" y="5969000"/>
            <a:ext cx="4521200" cy="635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47400" y="6197600"/>
            <a:ext cx="39624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A8792C"/>
                </a:solidFill>
                <a:latin typeface="Menlo"/>
                <a:ea typeface="Menlo"/>
              </a:rPr>
              <a:t>COMPOSE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47400" y="6553200"/>
            <a:ext cx="3962400" cy="88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frontend + backend + shared data volume, one command up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III · PART 4 · QUALITY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CMMI-3 habits, and four flavours of maintenance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352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CMMI LEVEL-3 PRACTICES AS RUN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5146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14400" y="2616200"/>
          <a:ext cx="14427200" cy="264160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328160"/>
                <a:gridCol w="10099040"/>
              </a:tblGrid>
              <a:tr h="42265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PRACTICE AREA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HOW v1.0.0 MET IT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  <a:tr h="443789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Organizational Process Focus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cadence reused across all 7 sprints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443789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Project Planning (PP)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WBS + poker estimates + capacity check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443789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Project Monitoring &amp; Control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velocity vs plan; slips recovered fast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443789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Measurement &amp; Analysis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coverage, CC, velocity as metrics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443789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Peer Reviews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cross-review inside Definition of Done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14400" y="56134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MAINTENANCE TYPES — EACH ALREADY HAPPENED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58928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6019800"/>
            <a:ext cx="3403600" cy="15748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6019800"/>
            <a:ext cx="3403600" cy="76200"/>
          </a:xfrm>
          <a:prstGeom prst="rect">
            <a:avLst/>
          </a:prstGeom>
          <a:solidFill>
            <a:srgbClr val="96462F"/>
          </a:solidFill>
          <a:ln w="12700">
            <a:solidFill>
              <a:srgbClr val="9646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68400" y="6248400"/>
            <a:ext cx="2895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96462F"/>
                </a:solidFill>
                <a:latin typeface="Menlo"/>
                <a:ea typeface="Menlo"/>
              </a:rPr>
              <a:t>CORRECTIVE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8400" y="6629400"/>
            <a:ext cx="28956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RES-001 hold stranding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0" y="6019800"/>
            <a:ext cx="3403600" cy="15748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0" y="6019800"/>
            <a:ext cx="3403600" cy="762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000" y="6248400"/>
            <a:ext cx="2895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A8792C"/>
                </a:solidFill>
                <a:latin typeface="Menlo"/>
                <a:ea typeface="Menlo"/>
              </a:rPr>
              <a:t>ADAPTIVE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6000" y="6629400"/>
            <a:ext cx="28956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policy term changes absorbed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6019800"/>
            <a:ext cx="3403600" cy="15748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6019800"/>
            <a:ext cx="3403600" cy="76200"/>
          </a:xfrm>
          <a:prstGeom prst="rect">
            <a:avLst/>
          </a:prstGeom>
          <a:solidFill>
            <a:srgbClr val="2E5646"/>
          </a:solidFill>
          <a:ln w="12700">
            <a:solidFill>
              <a:srgbClr val="2E5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83600" y="6248400"/>
            <a:ext cx="2895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E5646"/>
                </a:solidFill>
                <a:latin typeface="Menlo"/>
                <a:ea typeface="Menlo"/>
              </a:rPr>
              <a:t>PERFECTIVE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83600" y="6629400"/>
            <a:ext cx="28956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recommendation reasons added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887200" y="6019800"/>
            <a:ext cx="3403600" cy="15748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887200" y="6019800"/>
            <a:ext cx="3403600" cy="762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141200" y="6248400"/>
            <a:ext cx="2895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1E3A2F"/>
                </a:solidFill>
                <a:latin typeface="Menlo"/>
                <a:ea typeface="Menlo"/>
              </a:rPr>
              <a:t>PREVENTIVE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41200" y="6629400"/>
            <a:ext cx="28956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BVA pins block defect families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III · PART 4 · QUALITY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Release ledger: v1.0.0 · 4 Sep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260600"/>
            <a:ext cx="14427200" cy="14986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46200" y="2489200"/>
            <a:ext cx="6350000" cy="1041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5400" b="1" i="0">
                <a:solidFill>
                  <a:srgbClr val="FFFFFF"/>
                </a:solidFill>
                <a:latin typeface="Georgia"/>
                <a:ea typeface="Georgia"/>
              </a:rPr>
              <a:t>v1.0.0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12000" y="2489200"/>
            <a:ext cx="4826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DCC9A5"/>
                </a:solidFill>
                <a:latin typeface="Helvetica"/>
                <a:ea typeface="Helvetica"/>
              </a:rPr>
              <a:t>SHIPPED 4 SEP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0" y="2921000"/>
            <a:ext cx="7874000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FFFFFF"/>
                </a:solidFill>
                <a:latin typeface="Helvetica"/>
                <a:ea typeface="Helvetica"/>
              </a:rPr>
              <a:t>10 epics · 37 stories · 125 of 126 points · all seven sprints closed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2291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200" y="4216400"/>
            <a:ext cx="1112202" cy="81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 i="0">
                <a:solidFill>
                  <a:srgbClr val="1E3A2F"/>
                </a:solidFill>
                <a:latin typeface="Helvetica"/>
                <a:ea typeface="Helvetica"/>
              </a:rPr>
              <a:t>Delivered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0602" y="4216400"/>
            <a:ext cx="12527598" cy="81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 i="0">
                <a:solidFill>
                  <a:srgbClr val="1E3A2F"/>
                </a:solidFill>
                <a:latin typeface="Helvetica"/>
                <a:ea typeface="Helvetica"/>
              </a:rPr>
              <a:t>: catalogue, circulation, holds queue, fines, barcodes, RBAC desks, React SPA, Docker stack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965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4953000"/>
            <a:ext cx="2150428" cy="81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 i="0">
                <a:solidFill>
                  <a:srgbClr val="1E3A2F"/>
                </a:solidFill>
                <a:latin typeface="Helvetica"/>
                <a:ea typeface="Helvetica"/>
              </a:rPr>
              <a:t>Quality at the 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18828" y="4953000"/>
            <a:ext cx="11489372" cy="81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 i="0">
                <a:solidFill>
                  <a:srgbClr val="1E3A2F"/>
                </a:solidFill>
                <a:latin typeface="Helvetica"/>
                <a:ea typeface="Helvetica"/>
              </a:rPr>
              <a:t>: 123 tests green · 82.4% stmts / 88.8% lines · 2 E2E journeys passing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8166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KNOWN LIMITS, ON THE RECORD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60960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6235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9200" y="6223000"/>
            <a:ext cx="1582864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1E3A2F"/>
                </a:solidFill>
                <a:latin typeface="Helvetica"/>
                <a:ea typeface="Helvetica"/>
              </a:rPr>
              <a:t>US-37 deferred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51264" y="6223000"/>
            <a:ext cx="12056936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1E3A2F"/>
                </a:solidFill>
                <a:latin typeface="Helvetica"/>
                <a:ea typeface="Helvetica"/>
              </a:rPr>
              <a:t>— the one point that did not make the date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6743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9200" y="6731000"/>
            <a:ext cx="2887567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1E3A2F"/>
                </a:solidFill>
                <a:latin typeface="Helvetica"/>
                <a:ea typeface="Helvetica"/>
              </a:rPr>
              <a:t>Single instance, JSON store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55967" y="6731000"/>
            <a:ext cx="10752233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1E3A2F"/>
                </a:solidFill>
                <a:latin typeface="Helvetica"/>
                <a:ea typeface="Helvetica"/>
              </a:rPr>
              <a:t>— a requirement trade-off, made crash-safe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7251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19200" y="7239000"/>
            <a:ext cx="2486120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1E3A2F"/>
                </a:solidFill>
                <a:latin typeface="Helvetica"/>
                <a:ea typeface="Helvetica"/>
              </a:rPr>
              <a:t>Services at 73.9% stmts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4520" y="7239000"/>
            <a:ext cx="11153680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1E3A2F"/>
                </a:solidFill>
                <a:latin typeface="Helvetica"/>
                <a:ea typeface="Helvetica"/>
              </a:rPr>
              <a:t>— thin glue, asserted where it matters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III ·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Quality was designed in, not tested on at the 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336800"/>
            <a:ext cx="8128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A8792C"/>
                </a:solidFill>
                <a:latin typeface="Menlo"/>
                <a:ea typeface="Menl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1800" y="2298700"/>
            <a:ext cx="13639800" cy="711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1E3A2F"/>
                </a:solidFill>
                <a:latin typeface="Georgia"/>
                <a:ea typeface="Georgia"/>
              </a:rPr>
              <a:t>Pyramid economics: fast specs hold the rules, two journeys guard the wiring.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24200"/>
            <a:ext cx="8128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A8792C"/>
                </a:solidFill>
                <a:latin typeface="Menlo"/>
                <a:ea typeface="Menlo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1800" y="3086100"/>
            <a:ext cx="13639800" cy="711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1E3A2F"/>
                </a:solidFill>
                <a:latin typeface="Georgia"/>
                <a:ea typeface="Georgia"/>
              </a:rPr>
              <a:t>EP, BVA and decision tables turned policy into a testable contract.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911600"/>
            <a:ext cx="8128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A8792C"/>
                </a:solidFill>
                <a:latin typeface="Menlo"/>
                <a:ea typeface="Menlo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1800" y="3873500"/>
            <a:ext cx="13639800" cy="711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1E3A2F"/>
                </a:solidFill>
                <a:latin typeface="Georgia"/>
                <a:ea typeface="Georgia"/>
              </a:rPr>
              <a:t>Coverage, CC and ISO evidence were measured, published — misses included.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699000"/>
            <a:ext cx="8128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A8792C"/>
                </a:solidFill>
                <a:latin typeface="Menlo"/>
                <a:ea typeface="Menlo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01800" y="4660900"/>
            <a:ext cx="13639800" cy="711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1E3A2F"/>
                </a:solidFill>
                <a:latin typeface="Georgia"/>
                <a:ea typeface="Georgia"/>
              </a:rPr>
              <a:t>CI, Docker and CMMI-3 habits made v1.0.0 repeatable, not lucky.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6642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867400"/>
            <a:ext cx="88900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 i="0">
                <a:solidFill>
                  <a:srgbClr val="1E3A2F"/>
                </a:solidFill>
                <a:latin typeface="Georgia"/>
                <a:ea typeface="Georgia"/>
              </a:rPr>
              <a:t>Thank you — questions welcome.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6629400"/>
            <a:ext cx="4191000" cy="558800"/>
          </a:xfrm>
          <a:prstGeom prst="round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0600" y="6629400"/>
            <a:ext cx="40386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Helvetica"/>
                <a:ea typeface="Helvetica"/>
              </a:rPr>
              <a:t>Delivered v1.0.0 · 4 Sep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629400"/>
            <a:ext cx="98552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6756A"/>
                </a:solidFill>
                <a:latin typeface="Helvetica"/>
                <a:ea typeface="Helvetica"/>
              </a:rPr>
              <a:t>Whole seminar: design in Unit I · process in Unit II · this evidence trail in Unit III.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7620000"/>
            <a:ext cx="144272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66756A"/>
                </a:solidFill>
                <a:latin typeface="Menlo"/>
                <a:ea typeface="Menlo"/>
              </a:rPr>
              <a:t>S. Nidhish Guhan S · Kawaskar J — 24CSI015 Software Engineering with Agile Practices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