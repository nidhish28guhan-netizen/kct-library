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3200" cy="91440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69600" y="3175000"/>
            <a:ext cx="5080000" cy="482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8000" b="1" i="0">
                <a:solidFill>
                  <a:srgbClr val="E3DCC8"/>
                </a:solidFill>
                <a:latin typeface="Georgia"/>
                <a:ea typeface="Georgia"/>
              </a:rPr>
              <a:t>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762000"/>
            <a:ext cx="1270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COLLEGE LIBRARY MANAGEMENT SYSTEM · UNIVERSITY PROJECT SEMINAR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168400"/>
            <a:ext cx="88900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6756A"/>
                </a:solidFill>
                <a:latin typeface="Helvetica"/>
                <a:ea typeface="Helvetica"/>
              </a:rPr>
              <a:t>COURSE 24CSI015 · SOFTWARE ENGINEERING WITH AGILE PRACTICES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33600"/>
            <a:ext cx="8890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1">
                <a:solidFill>
                  <a:srgbClr val="A8792C"/>
                </a:solidFill>
                <a:latin typeface="Georgia"/>
                <a:ea typeface="Georgia"/>
              </a:rPr>
              <a:t>Unit I of III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5400"/>
            <a:ext cx="10922000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1E3A2F"/>
                </a:solidFill>
                <a:latin typeface="Georgia"/>
                <a:ea typeface="Georgia"/>
              </a:rPr>
              <a:t>SE Fundamentals &amp;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78200"/>
            <a:ext cx="10922000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1E3A2F"/>
                </a:solidFill>
                <a:latin typeface="Georgia"/>
                <a:ea typeface="Georgia"/>
              </a:rPr>
              <a:t>System Design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470400"/>
            <a:ext cx="1219200" cy="508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826000"/>
            <a:ext cx="10414000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6756A"/>
                </a:solidFill>
                <a:latin typeface="Helvetica"/>
                <a:ea typeface="Helvetica"/>
              </a:rPr>
              <a:t>How CLMS was framed, specified and designed before the first sprint opened.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969000"/>
            <a:ext cx="25400" cy="16764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9200" y="5994400"/>
            <a:ext cx="381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6400800"/>
            <a:ext cx="304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S. Nidhish Guhan 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6400800"/>
            <a:ext cx="5334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66756A"/>
                </a:solidFill>
                <a:latin typeface="Helvetica"/>
                <a:ea typeface="Helvetica"/>
              </a:rPr>
              <a:t>— Product Owner / Developer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6832600"/>
            <a:ext cx="304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Kawaskar 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5200" y="6832600"/>
            <a:ext cx="5334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66756A"/>
                </a:solidFill>
                <a:latin typeface="Helvetica"/>
                <a:ea typeface="Helvetica"/>
              </a:rPr>
              <a:t>— Scrum Master / Developer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8178800"/>
            <a:ext cx="889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66756A"/>
                </a:solidFill>
                <a:latin typeface="Menlo"/>
                <a:ea typeface="Menlo"/>
              </a:rPr>
              <a:t>Project seminar · September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2000" y="8178800"/>
            <a:ext cx="44196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6756A"/>
                </a:solidFill>
                <a:latin typeface="Menlo"/>
                <a:ea typeface="Menlo"/>
              </a:rPr>
              <a:t>deck 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AGENDA · UNIT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What this unit covers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209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13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82800" y="2374900"/>
            <a:ext cx="635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FRAMING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1600" y="2438400"/>
            <a:ext cx="76200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Problem statement · stakeholders and roles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606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10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2800" y="3771900"/>
            <a:ext cx="635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METHOD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1600" y="3835400"/>
            <a:ext cx="76200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SDLC choice · requirements engineering · traceability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003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07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82800" y="5168900"/>
            <a:ext cx="635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MODELLING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1600" y="5232400"/>
            <a:ext cx="76200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Use cases · class model · state machine · issue sequence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6400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6604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2800" y="6565900"/>
            <a:ext cx="635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ARCHITECTURE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21600" y="6629400"/>
            <a:ext cx="76200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Layered backend · JsonStore · barcodes · data · principles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1 ·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Manual counters left no record of anything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590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THE OLD DESK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4384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54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2641600"/>
            <a:ext cx="6350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Card catalogue, handwritten ledgers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36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3124200"/>
            <a:ext cx="6350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No traceability — who took what, when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19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9200" y="3606800"/>
            <a:ext cx="6350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Fine disputes with no computed record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02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9200" y="4089400"/>
            <a:ext cx="6350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Walk-in only; no reservation queue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84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9200" y="4572000"/>
            <a:ext cx="6350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Shelf stock drifted from the register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28000" y="2159000"/>
            <a:ext cx="7213600" cy="40894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28000" y="2159000"/>
            <a:ext cx="72136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2800" y="2489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CLMS ANSWERS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32800" y="2768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32800" y="2984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7600" y="2971800"/>
            <a:ext cx="1572482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Express 4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59282" y="2971800"/>
            <a:ext cx="4701318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+ React 18 / Vite 5 SPA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2800" y="3492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7600" y="3479800"/>
            <a:ext cx="167976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JWT + bcryptjs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66566" y="3479800"/>
            <a:ext cx="459403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sessions, RBAC on routes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32800" y="4000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7600" y="3987800"/>
            <a:ext cx="1894332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Code 128 barcode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81132" y="3987800"/>
            <a:ext cx="4379468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on every physical copy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2800" y="4508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7600" y="4495800"/>
            <a:ext cx="1787049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Stateful domain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73849" y="4495800"/>
            <a:ext cx="4486751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holds, fines, renewals, queues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66294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19200" y="66294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Menlo"/>
                <a:ea typeface="Menlo"/>
              </a:rPr>
              <a:t>Initial dataset in v1: 2 staff · 4 members · 12 titles · 34 copies · 11 loans · 3 reservations · 2 penalties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1 · 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Four roles, one ledger, strict access boundaries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260600"/>
          <a:ext cx="14427200" cy="406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64080"/>
                <a:gridCol w="4039616"/>
                <a:gridCol w="8223504"/>
              </a:tblGrid>
              <a:tr h="6502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ROLE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POLICY ENVELOPE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WHAT THEY DO ON THE DESK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STUDENT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14 d · 3 books · 3 holds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Browse, borrow, place holds, view fines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FACULTY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30 d · 5 books · 5 holds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Longer terms · first in hold queues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LIBRARIAN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Desk operations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Issue, return, renewals, damage flags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85344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ADMIN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Catalogue and policy control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Members, titles, policy edits, oversight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6604000"/>
            <a:ext cx="144272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Every route checks the JWT role claim before its handler runs — RBAC is enforced in the backend, never hidden in the UI.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7264400"/>
            <a:ext cx="14427200" cy="609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19200" y="7264400"/>
            <a:ext cx="13843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Two staff accounts and four member records are seeded — the same identities power the Selenium journeys in Unit III.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2 ·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Waterfall would have frozen rules we were still discovering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260600"/>
          <a:ext cx="14427200" cy="3352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85440"/>
                <a:gridCol w="5193792"/>
                <a:gridCol w="6347968"/>
              </a:tblGrid>
              <a:tr h="5364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DIMENSION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WATERFALL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HOW CLMS ACTUALLY RAN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70408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Requirements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Signed off once, up front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Evolved as 37 stories across 10 epics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0408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Feedback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Only after full build-out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Every two weeks at the sprint review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70408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Risk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Late integration surprises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Each sprint ran live on localhost:4000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0408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Fit for CLMS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Weak — policies were unknown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Lean + Scrum + Kanban + XP hybrid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14400" y="5943600"/>
            <a:ext cx="14427200" cy="609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19200" y="5943600"/>
            <a:ext cx="13843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Agile fit confirmed: seven two-week sprints, 125 of 126 scope points delivered by 4 Sep 2026 — the process story is Unit II.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934200"/>
            <a:ext cx="14427200" cy="10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Selection logic: policy values (terms, fines, queues) were interview material, not prior knowledge. An incremental lifecycle let each sprint correct the model before the next one built on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2 ·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Two kinds of requirements, two kinds of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590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FUNCTIONAL SAMPLE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4384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2565400"/>
          <a:ext cx="6858000" cy="3429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548640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ID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REQUIREMENT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72009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FR-01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Borrow within the role's book limit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2009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FR-02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Loan term ends at 23:59 on the due date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72009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FR-03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Hold queue: FACULTY, then FIFO, then ID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2009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FR-04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Fine 1 rupee/day; account block at 50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178800" y="21590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NON-FUNCTIONAL + HOW MET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78800" y="24384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178800" y="2565400"/>
          <a:ext cx="7162800" cy="3429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501396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NEED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HOW IT IS MET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72009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Security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JWT · bcryptjs hashes · RBAC guards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2009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Reliability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Atomic tmp + rename JSON writes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72009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Portability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Docker frontend, backend, compose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2009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Maintainability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Five strict layers · avg CC 2.13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14400" y="6451600"/>
            <a:ext cx="14427200" cy="10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Roughly 45 REST endpoints carry the functional side. The NFR table is the honest ledger — each need maps to a named mechanism in the code, not an aspiration.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2 ·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One line of vision, traceable down to every point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362200"/>
            <a:ext cx="3200400" cy="21336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362200"/>
            <a:ext cx="3200400" cy="508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540000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VISION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2997200"/>
            <a:ext cx="2794000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 i="1">
                <a:solidFill>
                  <a:srgbClr val="1E3A2F"/>
                </a:solidFill>
                <a:latin typeface="Georgia"/>
                <a:ea typeface="Georgia"/>
              </a:rPr>
              <a:t>One dependable collection desk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200" y="3962400"/>
            <a:ext cx="28448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the anchor sentence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5600" y="3416300"/>
            <a:ext cx="355600" cy="25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4425950" y="3333750"/>
            <a:ext cx="190500" cy="1905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0" y="2362200"/>
            <a:ext cx="3200400" cy="21336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2362200"/>
            <a:ext cx="3200400" cy="508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2540000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EPICS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844800"/>
            <a:ext cx="32004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1E3A2F"/>
                </a:solidFill>
                <a:latin typeface="Georgia"/>
                <a:ea typeface="Georgia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49800" y="37592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coarse scope units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23200" y="3416300"/>
            <a:ext cx="355600" cy="25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5400000">
            <a:off x="8083550" y="3333750"/>
            <a:ext cx="190500" cy="1905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2362200"/>
            <a:ext cx="3200400" cy="21336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2362200"/>
            <a:ext cx="3200400" cy="508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540000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STORIES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844800"/>
            <a:ext cx="32004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1E3A2F"/>
                </a:solidFill>
                <a:latin typeface="Georgia"/>
                <a:ea typeface="Georgia"/>
              </a:rPr>
              <a:t>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7400" y="37592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sprint-sized promises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80800" y="3416300"/>
            <a:ext cx="355600" cy="25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Isosceles Triangle 25"/>
          <p:cNvSpPr/>
          <p:nvPr/>
        </p:nvSpPr>
        <p:spPr>
          <a:xfrm rot="5400000">
            <a:off x="11741150" y="3333750"/>
            <a:ext cx="190500" cy="1905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887200" y="2362200"/>
            <a:ext cx="3200400" cy="21336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887200" y="2362200"/>
            <a:ext cx="3200400" cy="508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115800" y="2540000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POINTS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0" y="2844800"/>
            <a:ext cx="32004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1E3A2F"/>
                </a:solidFill>
                <a:latin typeface="Georgia"/>
                <a:ea typeface="Georgia"/>
              </a:rPr>
              <a:t>126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065000" y="37592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125 delivered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041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19200" y="5029200"/>
            <a:ext cx="1319848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Every story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88248" y="5029200"/>
            <a:ext cx="8001953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carries acceptance criteria and a sprint tag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524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19200" y="5511800"/>
            <a:ext cx="696912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Epics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865312" y="5511800"/>
            <a:ext cx="8624888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roll the stories back up to the vision sentence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007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19200" y="5994400"/>
            <a:ext cx="1216025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125 of 126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84425" y="5994400"/>
            <a:ext cx="8105775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points delivered · US-37 deferred at review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858000"/>
            <a:ext cx="14427200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Traceability worked both directions: defect RES-001 retraced to its hold-queue story, its epic, and its regression pin in one hop.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3 · MODELLING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Use-case view: four actors, one shared catalogue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10000" y="2159000"/>
            <a:ext cx="10642600" cy="5842000"/>
          </a:xfrm>
          <a:prstGeom prst="rect">
            <a:avLst/>
          </a:prstGeom>
          <a:solidFill>
            <a:srgbClr val="F5F2EA"/>
          </a:solidFill>
          <a:ln w="254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13200" y="2286000"/>
            <a:ext cx="10236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E3A2F"/>
                </a:solidFill>
                <a:latin typeface="Helvetica"/>
                <a:ea typeface="Helvetica"/>
              </a:rPr>
              <a:t>CLMS · COLLEGE LIBRARY MANAGEMENT SYSTEM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6000" y="2870200"/>
            <a:ext cx="2032000" cy="5080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2200" y="2870200"/>
            <a:ext cx="18796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nlo"/>
                <a:ea typeface="Menlo"/>
              </a:rPr>
              <a:t>STUDENT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48000" y="3117850"/>
            <a:ext cx="7620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3740150" y="30543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16000" y="4089400"/>
            <a:ext cx="2032000" cy="5080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2200" y="4089400"/>
            <a:ext cx="18796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nlo"/>
                <a:ea typeface="Menlo"/>
              </a:rPr>
              <a:t>FACULTY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48000" y="4337050"/>
            <a:ext cx="7620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 rot="5400000">
            <a:off x="3740150" y="42735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16000" y="5308600"/>
            <a:ext cx="2032000" cy="5080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2200" y="5308600"/>
            <a:ext cx="18796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nlo"/>
                <a:ea typeface="Menlo"/>
              </a:rPr>
              <a:t>LIBRARIAN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48000" y="5556250"/>
            <a:ext cx="7620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5400000">
            <a:off x="3740150" y="54927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16000" y="6502400"/>
            <a:ext cx="2032000" cy="5080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2200" y="6502400"/>
            <a:ext cx="18796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nlo"/>
                <a:ea typeface="Menlo"/>
              </a:rPr>
              <a:t>ADMIN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48000" y="6750050"/>
            <a:ext cx="7620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5400000">
            <a:off x="3740150" y="66865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0" y="2489200"/>
            <a:ext cx="3175000" cy="660400"/>
          </a:xfrm>
          <a:prstGeom prst="ellipse">
            <a:avLst/>
          </a:prstGeom>
          <a:solidFill>
            <a:srgbClr val="EDE7D8"/>
          </a:solidFill>
          <a:ln w="254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2489200"/>
            <a:ext cx="31750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Helvetica"/>
                <a:ea typeface="Helvetica"/>
              </a:rPr>
              <a:t>Browse the catalogue</a:t>
            </a:r>
          </a:p>
        </p:txBody>
      </p:sp>
      <p:sp>
        <p:nvSpPr>
          <p:cNvPr id="26" name="Oval 25"/>
          <p:cNvSpPr/>
          <p:nvPr/>
        </p:nvSpPr>
        <p:spPr>
          <a:xfrm>
            <a:off x="8763000" y="2489200"/>
            <a:ext cx="3175000" cy="660400"/>
          </a:xfrm>
          <a:prstGeom prst="ellipse">
            <a:avLst/>
          </a:prstGeom>
          <a:solidFill>
            <a:srgbClr val="EDE7D8"/>
          </a:solidFill>
          <a:ln w="254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63000" y="2489200"/>
            <a:ext cx="31750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Helvetica"/>
                <a:ea typeface="Helvetica"/>
              </a:rPr>
              <a:t>Borrow a book</a:t>
            </a:r>
          </a:p>
        </p:txBody>
      </p:sp>
      <p:sp>
        <p:nvSpPr>
          <p:cNvPr id="28" name="Oval 27"/>
          <p:cNvSpPr/>
          <p:nvPr/>
        </p:nvSpPr>
        <p:spPr>
          <a:xfrm>
            <a:off x="4572000" y="3810000"/>
            <a:ext cx="3175000" cy="660400"/>
          </a:xfrm>
          <a:prstGeom prst="ellipse">
            <a:avLst/>
          </a:prstGeom>
          <a:solidFill>
            <a:srgbClr val="EDE7D8"/>
          </a:solidFill>
          <a:ln w="254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3810000"/>
            <a:ext cx="31750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Helvetica"/>
                <a:ea typeface="Helvetica"/>
              </a:rPr>
              <a:t>Reserve a copy</a:t>
            </a:r>
          </a:p>
        </p:txBody>
      </p:sp>
      <p:sp>
        <p:nvSpPr>
          <p:cNvPr id="30" name="Oval 29"/>
          <p:cNvSpPr/>
          <p:nvPr/>
        </p:nvSpPr>
        <p:spPr>
          <a:xfrm>
            <a:off x="8763000" y="3810000"/>
            <a:ext cx="3175000" cy="660400"/>
          </a:xfrm>
          <a:prstGeom prst="ellipse">
            <a:avLst/>
          </a:prstGeom>
          <a:solidFill>
            <a:srgbClr val="EDE7D8"/>
          </a:solidFill>
          <a:ln w="254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3810000"/>
            <a:ext cx="31750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Helvetica"/>
                <a:ea typeface="Helvetica"/>
              </a:rPr>
              <a:t>Fines &amp; receipt view</a:t>
            </a:r>
          </a:p>
        </p:txBody>
      </p:sp>
      <p:sp>
        <p:nvSpPr>
          <p:cNvPr id="32" name="Oval 31"/>
          <p:cNvSpPr/>
          <p:nvPr/>
        </p:nvSpPr>
        <p:spPr>
          <a:xfrm>
            <a:off x="4572000" y="5130800"/>
            <a:ext cx="3175000" cy="660400"/>
          </a:xfrm>
          <a:prstGeom prst="ellipse">
            <a:avLst/>
          </a:prstGeom>
          <a:solidFill>
            <a:srgbClr val="EDE7D8"/>
          </a:solidFill>
          <a:ln w="254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5130800"/>
            <a:ext cx="31750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Helvetica"/>
                <a:ea typeface="Helvetica"/>
              </a:rPr>
              <a:t>Issue / return stock</a:t>
            </a:r>
          </a:p>
        </p:txBody>
      </p:sp>
      <p:sp>
        <p:nvSpPr>
          <p:cNvPr id="34" name="Oval 33"/>
          <p:cNvSpPr/>
          <p:nvPr/>
        </p:nvSpPr>
        <p:spPr>
          <a:xfrm>
            <a:off x="8763000" y="5130800"/>
            <a:ext cx="3175000" cy="660400"/>
          </a:xfrm>
          <a:prstGeom prst="ellipse">
            <a:avLst/>
          </a:prstGeom>
          <a:solidFill>
            <a:srgbClr val="EDE7D8"/>
          </a:solidFill>
          <a:ln w="254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63000" y="5130800"/>
            <a:ext cx="31750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Helvetica"/>
                <a:ea typeface="Helvetica"/>
              </a:rPr>
              <a:t>Manage titles &amp; members</a:t>
            </a:r>
          </a:p>
        </p:txBody>
      </p:sp>
      <p:sp>
        <p:nvSpPr>
          <p:cNvPr id="36" name="Oval 35"/>
          <p:cNvSpPr/>
          <p:nvPr/>
        </p:nvSpPr>
        <p:spPr>
          <a:xfrm>
            <a:off x="6667500" y="6604000"/>
            <a:ext cx="3175000" cy="660400"/>
          </a:xfrm>
          <a:prstGeom prst="ellipse">
            <a:avLst/>
          </a:prstGeom>
          <a:solidFill>
            <a:srgbClr val="F3EBD9"/>
          </a:solidFill>
          <a:ln w="254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67500" y="6604000"/>
            <a:ext cx="31750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Helvetica"/>
                <a:ea typeface="Helvetica"/>
              </a:rPr>
              <a:t>Check limits &amp; dues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938000" y="2813050"/>
            <a:ext cx="2209800" cy="127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4141450" y="2819400"/>
            <a:ext cx="12700" cy="41148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42500" y="6927850"/>
            <a:ext cx="4305300" cy="127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Isosceles Triangle 40"/>
          <p:cNvSpPr/>
          <p:nvPr/>
        </p:nvSpPr>
        <p:spPr>
          <a:xfrm rot="16200000">
            <a:off x="9772650" y="6864350"/>
            <a:ext cx="139700" cy="139700"/>
          </a:xfrm>
          <a:prstGeom prst="triangle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090400" y="2565400"/>
            <a:ext cx="1905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1">
                <a:solidFill>
                  <a:srgbClr val="A8792C"/>
                </a:solidFill>
                <a:latin typeface="Menlo"/>
                <a:ea typeface="Menlo"/>
              </a:rPr>
              <a:t>«include»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53150" y="4521200"/>
            <a:ext cx="12700" cy="24130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59500" y="6927850"/>
            <a:ext cx="508000" cy="127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Isosceles Triangle 44"/>
          <p:cNvSpPr/>
          <p:nvPr/>
        </p:nvSpPr>
        <p:spPr>
          <a:xfrm rot="5400000">
            <a:off x="6597650" y="6864350"/>
            <a:ext cx="139700" cy="139700"/>
          </a:xfrm>
          <a:prstGeom prst="triangle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48400" y="5384800"/>
            <a:ext cx="1905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1">
                <a:solidFill>
                  <a:srgbClr val="A8792C"/>
                </a:solidFill>
                <a:latin typeface="Menlo"/>
                <a:ea typeface="Menlo"/>
              </a:rPr>
              <a:t>«include»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" y="8077200"/>
            <a:ext cx="144272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Helvetica"/>
                <a:ea typeface="Helvetica"/>
              </a:rPr>
              <a:t>Reserve a copy and Borrow a book share one guard — limits, dues and status resolve in the pure domain layer.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3 · MODELLING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Eight entities carry the whole domain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362200"/>
          <a:ext cx="6959600" cy="3175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8688"/>
                <a:gridCol w="5010912"/>
              </a:tblGrid>
              <a:tr h="5080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ENTITY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KEY FIELDS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666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Account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id · email · bcrypt hash · role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66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Member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memberCode · type · status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66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Title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isbn · title · author · edition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66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Copy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copyId (LIB-...) · status · shelf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382000" y="2362200"/>
          <a:ext cx="6959600" cy="3175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48688"/>
                <a:gridCol w="5010912"/>
              </a:tblGrid>
              <a:tr h="5080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ENTITY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KEY FIELDS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666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Loan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issuedAt · dueAt 23:59 · renewals x2 max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66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Reservation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queue position · 48 h pick-up window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66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Penalty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1 rupee/day accrual · 50-rupee block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6675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Policy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term and limits per role (seeded)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4400" y="5918200"/>
            <a:ext cx="14427200" cy="101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Copy owns the state machine of the next slide. Loan and Reservation reference Member, Title and Copy by id — JsonStore persists one collection per entity, and joins happen in the domain layer.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71120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9200" y="71120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Menlo"/>
                <a:ea typeface="Menlo"/>
              </a:rPr>
              <a:t>Relation map: Account 1:1 Member · Title 1:N Copy · Member 1:N Loan / Reservation / Penalty · Policy read by every guard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3 · MODELLING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A copy is only ever in one of six states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604000" y="4572000"/>
            <a:ext cx="2235200" cy="6604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80200" y="4572000"/>
            <a:ext cx="20828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nlo"/>
                <a:ea typeface="Menlo"/>
              </a:rPr>
              <a:t>AVAILABLE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22000" y="4572000"/>
            <a:ext cx="2235200" cy="660400"/>
          </a:xfrm>
          <a:prstGeom prst="roundRect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98200" y="4572000"/>
            <a:ext cx="20828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nlo"/>
                <a:ea typeface="Menlo"/>
              </a:rPr>
              <a:t>ISSUED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22000" y="2590800"/>
            <a:ext cx="2235200" cy="660400"/>
          </a:xfrm>
          <a:prstGeom prst="roundRect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98200" y="2590800"/>
            <a:ext cx="20828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nlo"/>
                <a:ea typeface="Menlo"/>
              </a:rPr>
              <a:t>RESERVED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590800"/>
            <a:ext cx="2235200" cy="660400"/>
          </a:xfrm>
          <a:prstGeom prst="round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80200" y="2590800"/>
            <a:ext cx="20828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nlo"/>
                <a:ea typeface="Menlo"/>
              </a:rPr>
              <a:t>DAMAGED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05000" y="2590800"/>
            <a:ext cx="2235200" cy="660400"/>
          </a:xfrm>
          <a:prstGeom prst="round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81200" y="2590800"/>
            <a:ext cx="20828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nlo"/>
                <a:ea typeface="Menlo"/>
              </a:rPr>
              <a:t>MAINTENANCE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05000" y="6604000"/>
            <a:ext cx="2235200" cy="660400"/>
          </a:xfrm>
          <a:prstGeom prst="round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81200" y="6604000"/>
            <a:ext cx="20828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nlo"/>
                <a:ea typeface="Menlo"/>
              </a:rPr>
              <a:t>LOST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39200" y="4711700"/>
            <a:ext cx="20828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5400000">
            <a:off x="10826750" y="46291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3200" y="44704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6756A"/>
                </a:solidFill>
                <a:latin typeface="Menlo"/>
                <a:ea typeface="Menlo"/>
              </a:rPr>
              <a:t>issue · 14/30 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39200" y="5016500"/>
            <a:ext cx="20828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sosceles Triangle 21"/>
          <p:cNvSpPr/>
          <p:nvPr/>
        </p:nvSpPr>
        <p:spPr>
          <a:xfrm rot="16200000">
            <a:off x="8743950" y="49339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3200" y="51054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6756A"/>
                </a:solidFill>
                <a:latin typeface="Menlo"/>
                <a:ea typeface="Menlo"/>
              </a:rPr>
              <a:t>return · fine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08900" y="3327400"/>
            <a:ext cx="25400" cy="1244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>
            <a:off x="7626350" y="32321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62600" y="38100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6756A"/>
                </a:solidFill>
                <a:latin typeface="Menlo"/>
                <a:ea typeface="Menlo"/>
              </a:rPr>
              <a:t>mark damaged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16400" y="2908300"/>
            <a:ext cx="2387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Isosceles Triangle 27"/>
          <p:cNvSpPr/>
          <p:nvPr/>
        </p:nvSpPr>
        <p:spPr>
          <a:xfrm rot="16200000">
            <a:off x="4121150" y="2825750"/>
            <a:ext cx="190500" cy="190500"/>
          </a:xfrm>
          <a:prstGeom prst="triangle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48200" y="30226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6756A"/>
                </a:solidFill>
                <a:latin typeface="Menlo"/>
                <a:ea typeface="Menlo"/>
              </a:rPr>
              <a:t>repair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09900" y="3251200"/>
            <a:ext cx="25400" cy="16510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22600" y="4889500"/>
            <a:ext cx="35814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Isosceles Triangle 31"/>
          <p:cNvSpPr/>
          <p:nvPr/>
        </p:nvSpPr>
        <p:spPr>
          <a:xfrm rot="5400000">
            <a:off x="6508750" y="4806950"/>
            <a:ext cx="190500" cy="190500"/>
          </a:xfrm>
          <a:prstGeom prst="triangle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75000" y="41148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6756A"/>
                </a:solidFill>
                <a:latin typeface="Menlo"/>
                <a:ea typeface="Menlo"/>
              </a:rPr>
              <a:t>back on shelf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69300" y="3632200"/>
            <a:ext cx="25400" cy="939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82000" y="3619500"/>
            <a:ext cx="12700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39300" y="2921000"/>
            <a:ext cx="25400" cy="7112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52000" y="2908300"/>
            <a:ext cx="12700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Isosceles Triangle 37"/>
          <p:cNvSpPr/>
          <p:nvPr/>
        </p:nvSpPr>
        <p:spPr>
          <a:xfrm rot="5400000">
            <a:off x="10826750" y="28257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79000" y="3378200"/>
            <a:ext cx="2540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6756A"/>
                </a:solidFill>
                <a:latin typeface="Menlo"/>
                <a:ea typeface="Menlo"/>
              </a:rPr>
              <a:t>hold placed · 48 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026900" y="3251200"/>
            <a:ext cx="25400" cy="1320800"/>
          </a:xfrm>
          <a:prstGeom prst="rect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Isosceles Triangle 40"/>
          <p:cNvSpPr/>
          <p:nvPr/>
        </p:nvSpPr>
        <p:spPr>
          <a:xfrm rot="10800000">
            <a:off x="11944350" y="4476750"/>
            <a:ext cx="190500" cy="190500"/>
          </a:xfrm>
          <a:prstGeom prst="triangle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166600" y="3810000"/>
            <a:ext cx="2159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6756A"/>
                </a:solidFill>
                <a:latin typeface="Menlo"/>
                <a:ea typeface="Menlo"/>
              </a:rPr>
              <a:t>READY · collect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022600" y="5219700"/>
            <a:ext cx="3581400" cy="25400"/>
          </a:xfrm>
          <a:prstGeom prst="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009900" y="5232400"/>
            <a:ext cx="25400" cy="1371600"/>
          </a:xfrm>
          <a:prstGeom prst="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Isosceles Triangle 44"/>
          <p:cNvSpPr/>
          <p:nvPr/>
        </p:nvSpPr>
        <p:spPr>
          <a:xfrm rot="10800000">
            <a:off x="2927350" y="6508750"/>
            <a:ext cx="190500" cy="190500"/>
          </a:xfrm>
          <a:prstGeom prst="triangle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49600" y="5689600"/>
            <a:ext cx="2540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6756A"/>
                </a:solidFill>
                <a:latin typeface="Menlo"/>
                <a:ea typeface="Menlo"/>
              </a:rPr>
              <a:t>reported lost</a:t>
            </a:r>
          </a:p>
        </p:txBody>
      </p:sp>
      <p:sp>
        <p:nvSpPr>
          <p:cNvPr id="47" name="Oval 46"/>
          <p:cNvSpPr/>
          <p:nvPr/>
        </p:nvSpPr>
        <p:spPr>
          <a:xfrm>
            <a:off x="13487400" y="4572000"/>
            <a:ext cx="1854200" cy="660400"/>
          </a:xfrm>
          <a:prstGeom prst="ellipse">
            <a:avLst/>
          </a:prstGeom>
          <a:solidFill>
            <a:srgbClr val="EDE7D8"/>
          </a:solidFill>
          <a:ln w="254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487400" y="4572000"/>
            <a:ext cx="1854200" cy="66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1E3A2F"/>
                </a:solidFill>
                <a:latin typeface="Menlo"/>
                <a:ea typeface="Menlo"/>
              </a:rPr>
              <a:t>cancel READY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4408150" y="3086100"/>
            <a:ext cx="12700" cy="1485900"/>
          </a:xfrm>
          <a:prstGeom prst="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3157200" y="3079750"/>
            <a:ext cx="1257300" cy="12700"/>
          </a:xfrm>
          <a:prstGeom prst="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Isosceles Triangle 50"/>
          <p:cNvSpPr/>
          <p:nvPr/>
        </p:nvSpPr>
        <p:spPr>
          <a:xfrm rot="16200000">
            <a:off x="13087350" y="3016250"/>
            <a:ext cx="139700" cy="139700"/>
          </a:xfrm>
          <a:prstGeom prst="triangle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3233400" y="2311400"/>
            <a:ext cx="21082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462F"/>
                </a:solidFill>
                <a:latin typeface="Menlo"/>
                <a:ea typeface="Menlo"/>
              </a:rPr>
              <a:t>re-dispatch RES-001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0" y="76962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19200" y="76962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Helvetica"/>
                <a:ea typeface="Helvetica"/>
              </a:rPr>
              <a:t>RES-001 guard: a cancelled READY hold snapshots its pre-state and re-dispatches to the next queue member — no copy is ever stranded.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3 · MODELLING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Issue-at-desk: seven messages, one atomic write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057400"/>
            <a:ext cx="2413000" cy="5080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8700" y="2057400"/>
            <a:ext cx="22606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nlo"/>
                <a:ea typeface="Menlo"/>
              </a:rPr>
              <a:t>LIBRARIAN</a:t>
            </a:r>
          </a:p>
        </p:txBody>
      </p:sp>
      <p:sp>
        <p:nvSpPr>
          <p:cNvPr id="8" name="Rectangle 7"/>
          <p:cNvSpPr/>
          <p:nvPr/>
        </p:nvSpPr>
        <p:spPr>
          <a:xfrm>
            <a:off x="2159000" y="2743200"/>
            <a:ext cx="25400" cy="52578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35500" y="2057400"/>
            <a:ext cx="2413000" cy="5080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11700" y="2057400"/>
            <a:ext cx="22606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nlo"/>
                <a:ea typeface="Menlo"/>
              </a:rPr>
              <a:t>REACT UI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42000" y="2743200"/>
            <a:ext cx="25400" cy="52578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45500" y="2057400"/>
            <a:ext cx="2413000" cy="5080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21700" y="2057400"/>
            <a:ext cx="22606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nlo"/>
                <a:ea typeface="Menlo"/>
              </a:rPr>
              <a:t>DOMAIN (EXPRESS)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52000" y="2743200"/>
            <a:ext cx="25400" cy="52578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2128500" y="2057400"/>
            <a:ext cx="2413000" cy="5080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204700" y="2057400"/>
            <a:ext cx="2260600" cy="50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nlo"/>
                <a:ea typeface="Menlo"/>
              </a:rPr>
              <a:t>JSONSTORE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335000" y="2743200"/>
            <a:ext cx="25400" cy="52578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59000" y="3314700"/>
            <a:ext cx="36830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5400000">
            <a:off x="5746750" y="32321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60600" y="3022600"/>
            <a:ext cx="3479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 i="0">
                <a:solidFill>
                  <a:srgbClr val="A8792C"/>
                </a:solidFill>
                <a:latin typeface="Menlo"/>
                <a:ea typeface="Menlo"/>
              </a:rPr>
              <a:t>1 · scan barcode LIB-CSALG01-001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42000" y="4127500"/>
            <a:ext cx="38100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sosceles Triangle 21"/>
          <p:cNvSpPr/>
          <p:nvPr/>
        </p:nvSpPr>
        <p:spPr>
          <a:xfrm rot="5400000">
            <a:off x="9556750" y="40449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3835400"/>
            <a:ext cx="3606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 i="0">
                <a:solidFill>
                  <a:srgbClr val="A8792C"/>
                </a:solidFill>
                <a:latin typeface="Menlo"/>
                <a:ea typeface="Menlo"/>
              </a:rPr>
              <a:t>2 · POST /api/loans · JWT LIBRARIAN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31200" y="4445000"/>
            <a:ext cx="2667000" cy="482600"/>
          </a:xfrm>
          <a:prstGeom prst="rect">
            <a:avLst/>
          </a:prstGeom>
          <a:solidFill>
            <a:srgbClr val="EDE7D8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2800" y="4445000"/>
            <a:ext cx="24638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1E3A2F"/>
                </a:solidFill>
                <a:latin typeface="Menlo"/>
                <a:ea typeface="Menlo"/>
              </a:rPr>
              <a:t>3 · guard: status · limit · dues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52000" y="5575300"/>
            <a:ext cx="36830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Isosceles Triangle 26"/>
          <p:cNvSpPr/>
          <p:nvPr/>
        </p:nvSpPr>
        <p:spPr>
          <a:xfrm rot="5400000">
            <a:off x="13239750" y="54927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53600" y="5283200"/>
            <a:ext cx="3479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 i="0">
                <a:solidFill>
                  <a:srgbClr val="A8792C"/>
                </a:solidFill>
                <a:latin typeface="Menlo"/>
                <a:ea typeface="Menlo"/>
              </a:rPr>
              <a:t>4 · write loan · flip copy state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014200" y="5867400"/>
            <a:ext cx="2667000" cy="482600"/>
          </a:xfrm>
          <a:prstGeom prst="rect">
            <a:avLst/>
          </a:prstGeom>
          <a:solidFill>
            <a:srgbClr val="EDE7D8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115800" y="5867400"/>
            <a:ext cx="24638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1E3A2F"/>
                </a:solidFill>
                <a:latin typeface="Menlo"/>
                <a:ea typeface="Menlo"/>
              </a:rPr>
              <a:t>5 · tmp file, then atomic rename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42000" y="6997700"/>
            <a:ext cx="38100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Isosceles Triangle 31"/>
          <p:cNvSpPr/>
          <p:nvPr/>
        </p:nvSpPr>
        <p:spPr>
          <a:xfrm rot="16200000">
            <a:off x="5746750" y="69151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0" y="6705600"/>
            <a:ext cx="3606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 i="0">
                <a:solidFill>
                  <a:srgbClr val="A8792C"/>
                </a:solidFill>
                <a:latin typeface="Menlo"/>
                <a:ea typeface="Menlo"/>
              </a:rPr>
              <a:t>6 · 201 · loan + receipt payload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159000" y="7734300"/>
            <a:ext cx="3683000" cy="25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Isosceles Triangle 34"/>
          <p:cNvSpPr/>
          <p:nvPr/>
        </p:nvSpPr>
        <p:spPr>
          <a:xfrm rot="16200000">
            <a:off x="2063750" y="7651750"/>
            <a:ext cx="190500" cy="190500"/>
          </a:xfrm>
          <a:prstGeom prst="triangle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600" y="7442200"/>
            <a:ext cx="3479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 i="0">
                <a:solidFill>
                  <a:srgbClr val="A8792C"/>
                </a:solidFill>
                <a:latin typeface="Menlo"/>
                <a:ea typeface="Menlo"/>
              </a:rPr>
              <a:t>7 · print receipt · Code 128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8128000"/>
            <a:ext cx="144272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Helvetica"/>
                <a:ea typeface="Helvetica"/>
              </a:rPr>
              <a:t>No step trusts the browser: the guard runs server-side even though the UI already disables invalid actions.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Five strict layers, one atomic store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108200"/>
            <a:ext cx="7874000" cy="482600"/>
          </a:xfrm>
          <a:prstGeom prst="round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0600" y="2108200"/>
            <a:ext cx="77216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E3A2F"/>
                </a:solidFill>
                <a:latin typeface="Helvetica"/>
                <a:ea typeface="Helvetica"/>
              </a:rPr>
              <a:t>React 18 + Vite 5 SPA · REST · Express 4 on :4000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794000"/>
            <a:ext cx="7112000" cy="736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93800" y="2794000"/>
            <a:ext cx="6604000" cy="736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Menlo"/>
                <a:ea typeface="Menlo"/>
              </a:rPr>
              <a:t>routes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4400" y="2895600"/>
            <a:ext cx="6858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L1 · ROUTES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4400" y="3175000"/>
            <a:ext cx="685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Helvetica"/>
                <a:ea typeface="Helvetica"/>
              </a:rPr>
              <a:t>JWT + RBAC guard ahead of every endpoint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2300" y="3530600"/>
            <a:ext cx="25400" cy="152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10800000">
            <a:off x="4375150" y="36131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3683000"/>
            <a:ext cx="7112000" cy="736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3800" y="3683000"/>
            <a:ext cx="6604000" cy="736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Menlo"/>
                <a:ea typeface="Menlo"/>
              </a:rPr>
              <a:t>services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4400" y="3784600"/>
            <a:ext cx="6858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L2 · SERVICES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4400" y="4064000"/>
            <a:ext cx="685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Helvetica"/>
                <a:ea typeface="Helvetica"/>
              </a:rPr>
              <a:t>orchestration only — no business rules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32300" y="4419600"/>
            <a:ext cx="25400" cy="152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10800000">
            <a:off x="4375150" y="45021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4572000"/>
            <a:ext cx="7112000" cy="736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93800" y="4572000"/>
            <a:ext cx="6604000" cy="736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Menlo"/>
                <a:ea typeface="Menlo"/>
              </a:rPr>
              <a:t>domain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4400" y="4673600"/>
            <a:ext cx="6858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L3 · DOMAIN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4400" y="4953000"/>
            <a:ext cx="685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Helvetica"/>
                <a:ea typeface="Helvetica"/>
              </a:rPr>
              <a:t>pure functions: policies, state, fines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32300" y="5308600"/>
            <a:ext cx="25400" cy="152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4375150" y="53911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5461000"/>
            <a:ext cx="7112000" cy="736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93800" y="5461000"/>
            <a:ext cx="6604000" cy="736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Menlo"/>
                <a:ea typeface="Menlo"/>
              </a:rPr>
              <a:t>repositories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34400" y="5562600"/>
            <a:ext cx="6858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L4 · REPOSITORIES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34400" y="5842000"/>
            <a:ext cx="685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Helvetica"/>
                <a:ea typeface="Helvetica"/>
              </a:rPr>
              <a:t>one accessor per entity collection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32300" y="6197600"/>
            <a:ext cx="25400" cy="152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Isosceles Triangle 30"/>
          <p:cNvSpPr/>
          <p:nvPr/>
        </p:nvSpPr>
        <p:spPr>
          <a:xfrm rot="10800000">
            <a:off x="4375150" y="62801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4400" y="6350000"/>
            <a:ext cx="7112000" cy="7366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93800" y="6350000"/>
            <a:ext cx="6604000" cy="736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Menlo"/>
                <a:ea typeface="Menlo"/>
              </a:rPr>
              <a:t>JsonStore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34400" y="6451600"/>
            <a:ext cx="6858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L5 · JSONSTORE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34400" y="6731000"/>
            <a:ext cx="685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Helvetica"/>
                <a:ea typeface="Helvetica"/>
              </a:rPr>
              <a:t>tmp file + atomic rename · crash-safe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7366000"/>
            <a:ext cx="14427200" cy="609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9200" y="7366000"/>
            <a:ext cx="13843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JSON files instead of Postgres — an explicit requirement, answered with atomic persistence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8204200"/>
            <a:ext cx="144272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System scale: 29 source files · 1,498 LOC · 314 functions · ~45 REST endpoints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Every copy carries a scannable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235200"/>
            <a:ext cx="6604000" cy="419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19200" y="2489200"/>
            <a:ext cx="5969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CATALOGUE COPY · SAMPLE 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2819400"/>
            <a:ext cx="5969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1E3A2F"/>
                </a:solidFill>
                <a:latin typeface="Menlo"/>
                <a:ea typeface="Menlo"/>
              </a:rPr>
              <a:t>LIB-CSALG01-001</a:t>
            </a:r>
          </a:p>
        </p:txBody>
      </p:sp>
      <p:pic>
        <p:nvPicPr>
          <p:cNvPr id="9" name="Picture 8" descr="barcode-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3403600"/>
            <a:ext cx="5740400" cy="2387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28000" y="2235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WHY CODE 128 · VIA BWIP-JS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28000" y="2514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28000" y="2705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2800" y="2692400"/>
            <a:ext cx="1894332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Dense full-ASCII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76332" y="2692400"/>
            <a:ext cx="4887468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codes fit small spine labels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0" y="3213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2800" y="3200400"/>
            <a:ext cx="2323465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Built-in check digit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05465" y="3200400"/>
            <a:ext cx="4458335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misreads reject themselves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0" y="3721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800" y="3708400"/>
            <a:ext cx="1894332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Scanner-agnostic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76332" y="3708400"/>
            <a:ext cx="4887468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camera or gun, same string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0" y="4229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2800" y="4216400"/>
            <a:ext cx="1787049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Server-side SVG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69049" y="4216400"/>
            <a:ext cx="4994751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generated on demand by bwip-js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6781800"/>
            <a:ext cx="14427200" cy="558800"/>
          </a:xfrm>
          <a:prstGeom prst="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9200" y="67818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Helvetica"/>
                <a:ea typeface="Helvetica"/>
              </a:rPr>
              <a:t>UI-002 lesson: an image tag cannot send a JWT header — the SPA fetches the SVG authenticated, then paints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7569200"/>
            <a:ext cx="144272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Helvetica"/>
                <a:ea typeface="Helvetica"/>
              </a:rPr>
              <a:t>Label format LIB-&lt;collection&gt;&lt;item&gt;-&lt;seq&gt;: human-readable prefix, machine-scannable payload.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The whole system fits in seven small files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384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1E3A2F"/>
                </a:solidFill>
                <a:latin typeface="Georgia"/>
                <a:ea typeface="Georgia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036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SEED STAFF</a:t>
            </a:r>
          </a:p>
        </p:txBody>
      </p:sp>
      <p:sp>
        <p:nvSpPr>
          <p:cNvPr id="8" name="Rectangle 7"/>
          <p:cNvSpPr/>
          <p:nvPr/>
        </p:nvSpPr>
        <p:spPr>
          <a:xfrm>
            <a:off x="4089400" y="2514600"/>
            <a:ext cx="25400" cy="12192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7400" y="24384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1E3A2F"/>
                </a:solidFill>
                <a:latin typeface="Georgia"/>
                <a:ea typeface="Georg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7400" y="34036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SEED MEMBERS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2514600"/>
            <a:ext cx="25400" cy="12192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0400" y="24384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1E3A2F"/>
                </a:solidFill>
                <a:latin typeface="Georgia"/>
                <a:ea typeface="Georgia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0400" y="34036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TITLES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55400" y="2514600"/>
            <a:ext cx="25400" cy="12192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963400" y="24384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1E3A2F"/>
                </a:solidFill>
                <a:latin typeface="Georgia"/>
                <a:ea typeface="Georgia"/>
              </a:rPr>
              <a:t>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63400" y="34036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PHYSICAL COPIES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5466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A8792C"/>
                </a:solidFill>
                <a:latin typeface="Georgia"/>
                <a:ea typeface="Georgia"/>
              </a:rPr>
              <a:t>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5118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OPEN LOANS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89400" y="4622800"/>
            <a:ext cx="25400" cy="12192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97400" y="45466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A8792C"/>
                </a:solidFill>
                <a:latin typeface="Georgia"/>
                <a:ea typeface="Georgi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7400" y="55118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RESERVATIONS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0" y="4622800"/>
            <a:ext cx="25400" cy="12192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0400" y="4546600"/>
            <a:ext cx="3556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 i="0">
                <a:solidFill>
                  <a:srgbClr val="A8792C"/>
                </a:solidFill>
                <a:latin typeface="Georgia"/>
                <a:ea typeface="Georgia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0400" y="5511800"/>
            <a:ext cx="3556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PENALTIES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963400" y="4546600"/>
            <a:ext cx="3378200" cy="127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One JSON collection per entity — no database server anywhere in the stack.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6502400"/>
            <a:ext cx="14427200" cy="736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19200" y="6502400"/>
            <a:ext cx="13843000" cy="736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FFFFFF"/>
                </a:solidFill>
                <a:latin typeface="Helvetica"/>
                <a:ea typeface="Helvetica"/>
              </a:rPr>
              <a:t>Trade-off stated honestly: JSON documents were an explicit requirement — the answer is atomic tmp + rename writes, so a crash mid-save cannot corrupt the ledger.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PART 4 ·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Design principles that earned their keep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8890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Menlo"/>
                <a:ea typeface="Menlo"/>
              </a:rPr>
              <a:t>P1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1800" y="2247900"/>
            <a:ext cx="13639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1E3A2F"/>
                </a:solidFill>
                <a:latin typeface="Georgia"/>
                <a:ea typeface="Georgia"/>
              </a:rPr>
              <a:t>Single responsibility by layering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1800" y="2667000"/>
            <a:ext cx="13639800" cy="53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Routes never touch files; the store never knows library rules — each rule lives in exactly one place.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782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708400"/>
            <a:ext cx="8890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Menlo"/>
                <a:ea typeface="Menlo"/>
              </a:rPr>
              <a:t>P2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1800" y="3670300"/>
            <a:ext cx="13639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1E3A2F"/>
                </a:solidFill>
                <a:latin typeface="Georgia"/>
                <a:ea typeface="Georgia"/>
              </a:rPr>
              <a:t>Pure domain functions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1800" y="4089400"/>
            <a:ext cx="13639800" cy="53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Policies evaluate without I/O or mocks — which is why domain statement coverage reaches 96.8%.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800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130800"/>
            <a:ext cx="8890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Menlo"/>
                <a:ea typeface="Menlo"/>
              </a:rPr>
              <a:t>P3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1800" y="5092700"/>
            <a:ext cx="13639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1E3A2F"/>
                </a:solidFill>
                <a:latin typeface="Georgia"/>
                <a:ea typeface="Georgia"/>
              </a:rPr>
              <a:t>Idempotent notifications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1800" y="5511800"/>
            <a:ext cx="13639800" cy="53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A READY notice replayed is harmless — queue re-dispatch stays safe after the RES-001 fix.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62230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6553200"/>
            <a:ext cx="889000" cy="40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Menlo"/>
                <a:ea typeface="Menlo"/>
              </a:rPr>
              <a:t>P4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01800" y="6515100"/>
            <a:ext cx="13639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1E3A2F"/>
                </a:solidFill>
                <a:latin typeface="Georgia"/>
                <a:ea typeface="Georgia"/>
              </a:rPr>
              <a:t>State guards before writes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1800" y="6934200"/>
            <a:ext cx="13639800" cy="533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Every copy transition checks the allowed set first — no silent illegal edit reaches the store.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76454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 ·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Unit I in four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622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1800" y="23241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The problem was paper: no traceability, no queues, no computed fines.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1800" y="31623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Modelled first: use cases, 8 entities, a 6-state copy, a 7-message issue flow.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386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1800" y="40005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Architecture: five strict layers over an atomic JSON store, barcoded end to end.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768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1800" y="48387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The principles proved themselves in defects — every fix had exactly one home.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943600"/>
            <a:ext cx="14427200" cy="609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19200" y="5943600"/>
            <a:ext cx="13843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  <a:ea typeface="Helvetica"/>
              </a:rPr>
              <a:t>Design lesson: library policy belongs in code, not in counter habit.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6959600"/>
            <a:ext cx="4191000" cy="5588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6959600"/>
            <a:ext cx="40386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Delivered v1.0.0 · 4 Sep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959600"/>
            <a:ext cx="98552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6756A"/>
                </a:solidFill>
                <a:latin typeface="Helvetica"/>
                <a:ea typeface="Helvetica"/>
              </a:rPr>
              <a:t>Next · Unit II — the Agile practices and project management that turned this design into seven shipped sprints.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