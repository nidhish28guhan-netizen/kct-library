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KCT LIBRARY — SYSTEM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SE Fundamentals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System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How KCT Library was framed, specified and designed before the first sprint opened.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Library Administration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Library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System Administration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KCT Library · System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1600" y="2438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Problem statement · stakeholders and roles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1600" y="3835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SDLC choice · requirements engineering · traceability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MODELLING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1600" y="5232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Use cases · class model · state machine · issue sequence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1600" y="6629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Layered backend · binary store · barcodes · data · principles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Manual counters left no record of anything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THE OLD DESK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6416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Card catalogue, handwritten ledgers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3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1242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No traceability — who took what,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9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6068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Fine disputes with no computed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0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0894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Walk-in only; no reservation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8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5720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Shelf stock drifted from the register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0" y="2159000"/>
            <a:ext cx="7213600" cy="40894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8000" y="2159000"/>
            <a:ext cx="7213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2800" y="2489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KCT LIBRARY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2800" y="2768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2800" y="298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7600" y="2971800"/>
            <a:ext cx="157248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Express 4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59282" y="2971800"/>
            <a:ext cx="470131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+ React 18 / Vite 5 SPA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2800" y="349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7600" y="3479800"/>
            <a:ext cx="167976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JWT + bcryptjs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6566" y="3479800"/>
            <a:ext cx="459403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sessions, RBAC on routes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000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7600" y="39878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Code 128 barcode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81132" y="3987800"/>
            <a:ext cx="4379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on every physical 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2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44958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Stateful domain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3849" y="4495800"/>
            <a:ext cx="4486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holds, fines, renewals, queues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66294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66294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Initial dataset in v1: 2 staff · 4 members · 12 titles · 34 copies · 11 loans · 3 reservations · 2 penalties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Four roles, one ledger, strict access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40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4080"/>
                <a:gridCol w="4039616"/>
                <a:gridCol w="8223504"/>
              </a:tblGrid>
              <a:tr h="6502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ROLE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POLICY ENVELOPE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THEY DO ON THE DESK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14 d · 3 books · 3 holds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Browse, borrow, place holds, view fines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30 d · 5 books · 5 holds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Longer terms · first in hold queues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LIBRARIAN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Desk operations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Issue, return, renewals, damage flags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ADMIN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and policy control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Members, titles, policy edits, oversight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604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route checks the JWT role claim before its handler runs — RBAC is enforced in the backend, never hidden in the 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72644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200" y="72644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Two staff accounts and four member records are seeded — the same identities power the Selenium journeys in Unit III.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Waterfall would have frozen rules we were still discovering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5440"/>
                <a:gridCol w="5193792"/>
                <a:gridCol w="6347968"/>
              </a:tblGrid>
              <a:tr h="5364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DIMENSION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WATERFALL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KCT Library ACTUALLY RAN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Signed off once, up front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Evolved as 37 stories across 10 epics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Feedback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Only after full build-out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Every two weeks at the sprint review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Risk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Late integration surprises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Each sprint ran live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Fit for KCT Library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Weak — policies were unknown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Lean + Scrum + Kanban + XP hybrid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Agile fit confirmed: seven two-week sprints, 125 of 126 scope points delivered by 4 Sep 2026 — the process story is Unit 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934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Selection logic: policy values (terms, fines, queues) were interview material, not prior knowledge. An incremental lifecycle let each sprint correct the model before the next one built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kinds of requirements, two kinds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FUNCTIONAL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565400"/>
          <a:ext cx="68580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4864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Borrow within the role's book limit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 term ends at 23:59 on the 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Hold queue: FACULTY, then FIFO, then ID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1 rupee/day; account block at 50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788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NON-FUNCTIONAL + HOW 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88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178800" y="2565400"/>
          <a:ext cx="71628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501396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NEED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IT IS MET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hashes · RBAC guards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JSON writes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frontend, backend, compose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Five strict layers · avg CC 2.15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64516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Roughly 45 REST endpoints carry the functional side. The NFR table is the honest ledger — each need maps to a named mechanism in the code, not an aspiration.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line of vision, traceable down to every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997200"/>
            <a:ext cx="27940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1">
                <a:solidFill>
                  <a:srgbClr val="1E3A2F"/>
                </a:solidFill>
                <a:latin typeface="Georgia"/>
                <a:ea typeface="Georgia"/>
              </a:rPr>
              <a:t>One dependable collection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200" y="3962400"/>
            <a:ext cx="28448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anchor sentence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56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44259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98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coarse scope units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232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0835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74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sprint-sized promises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808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5400000">
            <a:off x="117411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8872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158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650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125 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41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5029200"/>
            <a:ext cx="13198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Every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8248" y="5029200"/>
            <a:ext cx="8001953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carries acceptance criteria and a sprint 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2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511800"/>
            <a:ext cx="69691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5312" y="5511800"/>
            <a:ext cx="862488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roll the stories back up to the vision sentence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07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94400"/>
            <a:ext cx="121602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125 of 126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4425" y="5994400"/>
            <a:ext cx="810577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points delivered · US-37 deferred at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858000"/>
            <a:ext cx="144272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Traceability worked both directions: defect RES-001 retraced to its hold-queue story, its epic, and its regression pin in one hop.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Use-case view: four actors, one shared catalogue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10000" y="2159000"/>
            <a:ext cx="10642600" cy="5842000"/>
          </a:xfrm>
          <a:prstGeom prst="rect">
            <a:avLst/>
          </a:prstGeom>
          <a:solidFill>
            <a:srgbClr val="F5F2EA"/>
          </a:solidFill>
          <a:ln w="254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13200" y="2286000"/>
            <a:ext cx="10236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3A2F"/>
                </a:solidFill>
                <a:latin typeface="Helvetica"/>
                <a:ea typeface="Helvetica"/>
              </a:rPr>
              <a:t>KCT Library · COLLEGE LIBRARY MANAGEMENT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6000" y="28702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200" y="28702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8000" y="31178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3740150" y="30543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6000" y="4089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2200" y="4089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FACULTY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48000" y="4337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3740150" y="4273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6000" y="53086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2200" y="53086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0" y="55562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3740150" y="54927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6000" y="6502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2200" y="6502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ADMIN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48000" y="6750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3740150" y="6686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Browse the catalogue</a:t>
            </a:r>
          </a:p>
        </p:txBody>
      </p:sp>
      <p:sp>
        <p:nvSpPr>
          <p:cNvPr id="26" name="Oval 25"/>
          <p:cNvSpPr/>
          <p:nvPr/>
        </p:nvSpPr>
        <p:spPr>
          <a:xfrm>
            <a:off x="8763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Borrow a book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Reserve a copy</a:t>
            </a:r>
          </a:p>
        </p:txBody>
      </p:sp>
      <p:sp>
        <p:nvSpPr>
          <p:cNvPr id="30" name="Oval 29"/>
          <p:cNvSpPr/>
          <p:nvPr/>
        </p:nvSpPr>
        <p:spPr>
          <a:xfrm>
            <a:off x="8763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Fines &amp; receipt view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Issue / return stock</a:t>
            </a:r>
          </a:p>
        </p:txBody>
      </p:sp>
      <p:sp>
        <p:nvSpPr>
          <p:cNvPr id="34" name="Oval 33"/>
          <p:cNvSpPr/>
          <p:nvPr/>
        </p:nvSpPr>
        <p:spPr>
          <a:xfrm>
            <a:off x="8763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63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Manage titles &amp; members</a:t>
            </a:r>
          </a:p>
        </p:txBody>
      </p:sp>
      <p:sp>
        <p:nvSpPr>
          <p:cNvPr id="36" name="Oval 35"/>
          <p:cNvSpPr/>
          <p:nvPr/>
        </p:nvSpPr>
        <p:spPr>
          <a:xfrm>
            <a:off x="6667500" y="6604000"/>
            <a:ext cx="3175000" cy="660400"/>
          </a:xfrm>
          <a:prstGeom prst="ellipse">
            <a:avLst/>
          </a:prstGeom>
          <a:solidFill>
            <a:srgbClr val="F3EBD9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6604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Check limits &amp; dues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938000" y="2813050"/>
            <a:ext cx="22098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141450" y="2819400"/>
            <a:ext cx="12700" cy="4114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42500" y="6927850"/>
            <a:ext cx="43053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9772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090400" y="25654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3150" y="4521200"/>
            <a:ext cx="12700" cy="2413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9500" y="6927850"/>
            <a:ext cx="5080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6597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0" y="53848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80772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Reserve a copy and Borrow a book share one guard — limits, dues and status resolve in the pure domain layer.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Eight entities carry the whole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id · email · bcrypt hash · role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memberCode · type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Title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isbn · title · author · edition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copyId (LIB-...) · status · shelf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issuedAt · dueAt 23:59 · renewals x2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queue position · 48 h pick-up window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1 rupee/day accrual · 50-rupee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Policy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term and limits per role (seeded)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918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Copy owns the state machine of the next slide. Loan and Reservation reference Member, Title and Copy by id — BinaryStore persists each collection as one opaque .cdb binary file, and joins happen in the domain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Relation map: Account 1:1 Member · Title 1:N Copy · Member 1:N Loan / Reservation / Penalty · Policy read by every guard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copy is only ever in one of six states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04000" y="4572000"/>
            <a:ext cx="2235200" cy="660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80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AVAILABLE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2000" y="45720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98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ISSUED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22000" y="25908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98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0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DAMAGED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05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81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MAINTENANCE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6604000"/>
            <a:ext cx="2235200" cy="6604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81200" y="6604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LOST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200" y="47117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10826750" y="4629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32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issue · 14/30 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39200" y="50165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8743950" y="4933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3200" y="5105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return · fine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8900" y="3327400"/>
            <a:ext cx="25400" cy="1244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76263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600" y="38100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mark damaged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6400" y="2908300"/>
            <a:ext cx="2387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16200000">
            <a:off x="4121150" y="28257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8200" y="30226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repair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09900" y="3251200"/>
            <a:ext cx="25400" cy="1651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22600" y="4889500"/>
            <a:ext cx="35814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5400000">
            <a:off x="6508750" y="48069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75000" y="41148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back on shelf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9300" y="3632200"/>
            <a:ext cx="25400" cy="939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2000" y="36195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9300" y="2921000"/>
            <a:ext cx="25400" cy="711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52000" y="29083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10826750" y="2825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9000" y="33782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hold placed · 48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026900" y="3251200"/>
            <a:ext cx="25400" cy="13208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0800000">
            <a:off x="11944350" y="4476750"/>
            <a:ext cx="190500" cy="190500"/>
          </a:xfrm>
          <a:prstGeom prst="triangle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66600" y="3810000"/>
            <a:ext cx="2159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READY · collect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2600" y="5219700"/>
            <a:ext cx="3581400" cy="254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09900" y="5232400"/>
            <a:ext cx="25400" cy="13716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2927350" y="6508750"/>
            <a:ext cx="190500" cy="1905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49600" y="56896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reported lost</a:t>
            </a:r>
          </a:p>
        </p:txBody>
      </p:sp>
      <p:sp>
        <p:nvSpPr>
          <p:cNvPr id="47" name="Oval 46"/>
          <p:cNvSpPr/>
          <p:nvPr/>
        </p:nvSpPr>
        <p:spPr>
          <a:xfrm>
            <a:off x="13487400" y="4572000"/>
            <a:ext cx="18542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87400" y="4572000"/>
            <a:ext cx="18542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cancel READY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408150" y="3086100"/>
            <a:ext cx="12700" cy="14859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3157200" y="3079750"/>
            <a:ext cx="1257300" cy="127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 rot="16200000">
            <a:off x="13087350" y="3016250"/>
            <a:ext cx="139700" cy="1397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233400" y="2311400"/>
            <a:ext cx="2108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462F"/>
                </a:solidFill>
                <a:latin typeface="Menlo"/>
                <a:ea typeface="Menlo"/>
              </a:rPr>
              <a:t>re-dispatch RES-001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19200" y="76962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RES-001 guard: a cancelled READY hold snapshots its pre-state and re-dispatches to the next queue member — no copy is ever stranded.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Issue-at-desk: seven messages, one atomic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8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2159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3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REACT 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4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4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DOMAIN (EXPRESS)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5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128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04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JSONSTORE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35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9000" y="33147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57467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60600" y="30226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1 · scan barcode LIB-CSALG01-001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0" y="41275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9556750" y="4044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8354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2 · POST /api/loans · JWT LIBRARIAN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31200" y="44450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2800" y="44450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3 · guard: status · limit · dues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000" y="5575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5400000">
            <a:off x="13239750" y="5492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3600" y="5283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4 · write loan · flip copy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14200" y="58674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15800" y="58674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5 · tmp file, then atomic rename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42000" y="69977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16200000">
            <a:off x="5746750" y="6915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67056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6 · 201 · loan + receipt payload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9000" y="7734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 rot="16200000">
            <a:off x="2063750" y="7651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600" y="7442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7 · print receipt · Code 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8128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No step trusts the browser: the guard runs server-side even though the UI already disables invalid actions.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Five strict layers, one atomic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08200"/>
            <a:ext cx="7874000" cy="4826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108200"/>
            <a:ext cx="77216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3A2F"/>
                </a:solidFill>
                <a:latin typeface="Helvetica"/>
                <a:ea typeface="Helvetica"/>
              </a:rPr>
              <a:t>React 18 + Vite 5 SPA · REST · Express 4 on :4000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94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794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400" y="2895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L1 · ROUTES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3175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JWT + RBAC guard ahead of every 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2300" y="3530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4375150" y="3613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683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3800" y="3683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3784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L2 ·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4064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orchestration only — no business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2300" y="4419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4375150" y="4502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572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3800" y="4572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4673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L3 · 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953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pure functions: policies, state, fines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2300" y="5308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375150" y="5391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461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3800" y="5461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4400" y="5562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L4 · REPOSITORIES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4400" y="5842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one accessor per entity collection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2300" y="6197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 rot="10800000">
            <a:off x="4375150" y="6280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6350000"/>
            <a:ext cx="7112000" cy="7366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3800" y="6350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BinaryStore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4400" y="6451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L5 · BINARYSTORE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4400" y="6731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.cdb container · tmp+rename · CRC32-checked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3660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3660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Binary .cdb files in local storage instead of Postgres — atomic, CRC32-guarded persistence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8204200"/>
            <a:ext cx="14427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System scale: 29 source files · 1,585 LOC · 321 functions · ~45 REST endpoints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Every copy carries a scannable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6604000" cy="419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2489200"/>
            <a:ext cx="5969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CATALOGUE COPY · SAMPLE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819400"/>
            <a:ext cx="5969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E3A2F"/>
                </a:solidFill>
                <a:latin typeface="Menlo"/>
                <a:ea typeface="Menlo"/>
              </a:rPr>
              <a:t>LIB-CSALG01-001</a:t>
            </a:r>
          </a:p>
        </p:txBody>
      </p:sp>
      <p:pic>
        <p:nvPicPr>
          <p:cNvPr id="9" name="Picture 8" descr="barcode-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403600"/>
            <a:ext cx="5740400" cy="238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28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CODE 128 · VIA BWIP-JS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8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8000" y="270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2800" y="2692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Dense full-ASCII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6332" y="2692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codes fit small spine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321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00" y="3200400"/>
            <a:ext cx="23234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Built-in check digit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5465" y="3200400"/>
            <a:ext cx="445833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misreads reject themselves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372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800" y="3708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Scanner-agnostic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6332" y="3708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camera or gun, same string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800" y="42164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Server-side SVG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9049" y="4216400"/>
            <a:ext cx="4994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generated on demand by bwip-js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6781800"/>
            <a:ext cx="14427200" cy="5588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6781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UI-002 lesson: an image tag cannot send a JWT header — the SPA fetches the SVG authenticated, then paints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5692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Label format LIB-&lt;collection&gt;&lt;item&gt;-&lt;seq&gt;: human-readable prefix, machine-scannable payload.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The whole system fits in seven small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STAFF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9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TITLES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55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63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63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PHYSICAL COPIES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OPEN LOANS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9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7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7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RESERVATIONS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PENALTIES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3400" y="4546600"/>
            <a:ext cx="33782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One JSON collection per entity — no database server anywhere in the stack.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6502400"/>
            <a:ext cx="144272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6502400"/>
            <a:ext cx="13843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Trade-off stated honestly: JSON documents were an explicit requirement — the answer is atomic tmp + rename writes, so a crash mid-save cannot corrupt the ledger.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Design principles that earned their keep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479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Single responsibility by layering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1800" y="26670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Routes never touch files; the store never knows library rules — each rule lives in exactly one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78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84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6703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Pure domain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40894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Policies evaluate without I/O or mocks — which is why domain statement coverage reaches 96.8%.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800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308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50927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Idempotent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55118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READY notice replayed is harmless — queue re-dispatch stays safe after the RES-001 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230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5532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1800" y="65151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State guards before writes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69342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copy transition checks the allowed set first — no silent illegal edit reaches the store.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454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problem was paper: no traceability, no queues, no computed fines.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Modelled first: use cases, 8 entities, a 6-state copy, a 7-message issue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Architecture: five strict layers over an atomic JSON store, barcoded end to 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principles proved themselves in defects — every fix had exactly one home.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Design lesson: library policy belongs in code, not in counter habit.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 — the Agile practices and project management that turned this design into seven shipped sprints.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KCT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